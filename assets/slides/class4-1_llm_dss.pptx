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list grounded in tasks students will actually do in Lab 7 — summarizing a comprehensive-plan excerpt and drafting a stakeholder memo. This is the 'capabilities' half of the deck; hallucination and grounding come next as the necessary counterweight.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feel like a direct payoff of Class 1-2's 'how LLMs differ' slide — connect back explicitly (fluency ≠ accuracy) rather than reintroducing the idea from scratch.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deck's most important connective-tissue slide — make sure students see this as reusing, not replacing, the document-driven DSS category from Class 3-1. Lab 7's grounded-vs-ungrounded comparison directly operationalizes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case is likely to generate discussion — let students react to it before moving on. It's a strong bridge into the prompting slide, since the fix for a case like this is exactly grounding + a defined human-review checkpoint, both introduced earlier in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explicitly how closely Boston's guidance mirrors the course's own Responsible AI Agreement — disclosure and human verification are not classroom-only rules, they reflect emerging real-world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directly actionable — consider having students draft one structured prompt live, using the four-part pattern, as a quick check before moving to the worked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worked example is a direct rehearsal of Lab 7's hallucination-hunt exercise — tell students explicitly that they'll do a fuller version of exactly this comparison in the lab that follows this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misconception is the one most likely to cause overconfidence after this class — reiterate that even a well-grounded system in Lab 7 still requires the human verification step, and that this is not optional or a formality.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connecting directly to the students' own upcoming deliverable — this is the moment to make explicit that the Brief's audit sections aren't bureaucratic busywork, they're a direct, practical response to a real, documented, still-recent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2926080" cy="2926080"/>
          </a:xfrm>
          <a:prstGeom prst="ellipse">
            <a:avLst/>
          </a:prstGeom>
          <a:solidFill>
            <a:srgbClr val="0F3A63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5029200"/>
            <a:ext cx="1463040" cy="1463040"/>
          </a:xfrm>
          <a:prstGeom prst="ellipse">
            <a:avLst/>
          </a:prstGeom>
          <a:solidFill>
            <a:srgbClr val="1E7A8C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57607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4-1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in Decision Support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AI: AI-Driven Decision Support for Real-World Urban Challenges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Jie Hou, Ph.D.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(Class segment of Meeting 8)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MSU AI-Ready Initiative · Non-Credit Learning Experience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3401568"/>
            <a:ext cx="10180015" cy="0"/>
          </a:xfrm>
          <a:prstGeom prst="line">
            <a:avLst/>
          </a:prstGeom>
          <a:noFill/>
          <a:ln w="25400">
            <a:solidFill>
              <a:srgbClr val="CCD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" y="3209544"/>
            <a:ext cx="384048" cy="38404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68104" y="3209544"/>
            <a:ext cx="384048" cy="38404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11488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74328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Basics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22392" y="3209544"/>
            <a:ext cx="384048" cy="38404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5776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28616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76680" y="3209544"/>
            <a:ext cx="384048" cy="38404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0064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82904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30968" y="3209544"/>
            <a:ext cx="384048" cy="38404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4352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37192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Cases 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85255" y="3209544"/>
            <a:ext cx="384048" cy="38404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8639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91479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Cases II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448103" y="3118104"/>
            <a:ext cx="566928" cy="566928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65807" y="32644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82927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45767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DSS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993831" y="3209544"/>
            <a:ext cx="384048" cy="384048"/>
          </a:xfrm>
          <a:prstGeom prst="ellipse">
            <a:avLst/>
          </a:prstGeom>
          <a:solidFill>
            <a:srgbClr val="B9C6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37215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00055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05840" y="51206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class meetings build from foundational concepts to a team-built, human-reviewed Urban AI Decision-Support Brief. Today's class is highlighted in amber above.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class,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10149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what LLMs can realistically contribute to a planning decision-support workflow.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88336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642616"/>
            <a:ext cx="10149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grounding and retrieval-augmented generation (RAG) and explain how each reduces hallucination risk.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639312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593592"/>
            <a:ext cx="10149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structured prompting pattern to a planning-related task.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590288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4544568"/>
            <a:ext cx="10149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hallucination and explain, in plain language, why LLMs produce it.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541264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541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5495544"/>
            <a:ext cx="10149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 real documented case of an LLM-based civic tool for what went right and wrong.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LLMs Can Contribute to Decision Support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0408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long documents — comprehensive plans, environmental impact statements, meeting minutes — into a form a stakeholder can actually read quickly.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first-pass communications — stakeholder memos, public-facing explanations, meeting agendas — that a human then edits and verifies.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and structuring options — generating a first list of possible criteria, scenarios, or stakeholder groups for a human to refine, exactly as Lab 7 will have you practice.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uses require the LLM to be a source of new facts — the strongest use cases keep the LLM working with information a human supplies or can verify.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2344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3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0" y="178308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LLM uses in this course: summarize, draft, and brainstorm — always with human verification after.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Hallucination: Why It Happens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generates text by predicting the most statistically plausible next word given everything before it — it is not looking anything up in a verified database by default.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is when the model generates fluent, confident-sounding text that is factually wrong or entirely invented — a fabricated citation, a nonexistent regulation, a made-up statistic.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happens because fluency and factual accuracy are two different properties, and the model was trained to be fluent — accuracy is a side effect, not the direct training objective.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the Responsible AI Agreement you signed in Orientation requires every submitted AI-assisted claim to be verifiable by a human against a named source.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and Retrieval-Augmented Generation (RAG)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0408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means constraining an LLM's answer to specific, supplied source material rather than letting it rely purely on its trained-in general knowledge.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is the standard technical pattern for grounding: relevant passages are retrieved from a document set (like a comprehensive plan) and given to the LLM alongside the question, so it answers from that specific text.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from Class 3-1: RAG is essentially a document-driven DSS with an LLM as its interface — the underlying idea of grounding answers in a searchable, specific document set predates LLMs by decades.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substantially reduces, but does not eliminate, hallucination risk — a human should still verify any specific factual claim before it's used, even a grounded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2344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3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0" y="178308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= document-driven DSS (Class 3-1) + an LLM front end.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2A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NYC's MyCity Business Chatbot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October 2023, New York City launched the MyCity Business chatbot to help small-business owners navigate city regulations, licensing, and requirements using a generative AI system.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March 2024, an investigation (widely reported, including by The Markup and the Associated Press) found the chatbot giving inaccurate and, in some cases, illegal guidance — including advice that appeared to suggest business owners could take actions that actually violate labor and housing law.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 did not immediately pull the tool down, instead adding a disclaimer, which itself became part of the public debate about how much responsibility a disclaimer can reasonably shift onto users.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real, well-documented, still-relevant example of an LLM-based civic tool deployed at real government scale without sufficiently robust grounding or human-review safeguards for legally consequential answers.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863840" y="1737360"/>
            <a:ext cx="3703320" cy="3931920"/>
          </a:xfrm>
          <a:prstGeom prst="roundRect">
            <a:avLst>
              <a:gd name="adj" fmla="val 1975"/>
            </a:avLst>
          </a:prstGeom>
          <a:solidFill>
            <a:srgbClr val="FCEFDC"/>
          </a:solidFill>
          <a:ln/>
        </p:spPr>
      </p:sp>
      <p:sp>
        <p:nvSpPr>
          <p:cNvPr id="7" name="Text 5"/>
          <p:cNvSpPr/>
          <p:nvPr/>
        </p:nvSpPr>
        <p:spPr>
          <a:xfrm>
            <a:off x="809244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92440" y="228600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case shows exactly what happens when the capabilities discussed earlier in this deck (drafting, summarizing) are applied to a task — legal compliance guidance — that actually requires the accuracy this course keeps insisting an LLM alone cannot guarantee.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2A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of Boston's Generative AI Guidelines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2023, Boston's city government, under then-Chief Information Officer Santiago Garces, published one of the first sets of formal generative AI guidelines for municipal staff — explicitly permitting tools like ChatGPT for drafting and idea generation while requiring human review before anything is finalized or published.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banning generative AI outright or leaving staff to figure out norms on their own, Boston's approach set clear expectations: disclose AI use, verify outputs, and never input confidential or sensitive resident data.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the structure of this course's own Responsible AI policy directly — approved-tool review, mandatory disclosure, and human verification of every claim.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useful contrast to the MyCity chatbot case: Boston's guidance is about how staff use general-purpose LLM tools responsibly, not about deploying an LLM-powered public-facing tool — a smaller, more contained scope of risk.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863840" y="1737360"/>
            <a:ext cx="3703320" cy="3931920"/>
          </a:xfrm>
          <a:prstGeom prst="roundRect">
            <a:avLst>
              <a:gd name="adj" fmla="val 1975"/>
            </a:avLst>
          </a:prstGeom>
          <a:solidFill>
            <a:srgbClr val="FCEFDC"/>
          </a:solidFill>
          <a:ln/>
        </p:spPr>
      </p:sp>
      <p:sp>
        <p:nvSpPr>
          <p:cNvPr id="7" name="Text 5"/>
          <p:cNvSpPr/>
          <p:nvPr/>
        </p:nvSpPr>
        <p:spPr>
          <a:xfrm>
            <a:off x="809244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92440" y="228600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Boston's guidelines show a city treating generative AI governance as a first-class policy problem worth solving proactively, in a way that closely parallels — and helped inspire confidence in — the kind of Responsible AI policy this course asks you to follow.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for Planning Tasks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prompt states four things clearly: the role you want the model to take, the context/source material it should use, the specific task, and the desired output format.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structure: 'You are helping summarize a comprehensive plan excerpt for a busy city councilmember. Using only the attached excerpt [context], summarize the three main proposed zoning changes [task] in a bulleted list under 150 words [format].'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instructing the model to use only the supplied material, and to say so if the answer isn't in that material, is a simple, effective way to reduce hallucination risk even without a full RAG system.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structured pattern is exactly what Lab 7 will have you practice for both a grounded stakeholder memo and a deliberate hallucination hunt.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Grounded vs. Ungrounded Prompting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402336" cy="402336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07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80160"/>
            <a:ext cx="10241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'What is the maximum building height allowed in this district?'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04288"/>
            <a:ext cx="402336" cy="402336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276856"/>
            <a:ext cx="10241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Ungrounded prompt: 'What is the maximum building height allowed in downtown zoning districts?' — with no source attached, the model may answer fluently using generic or outdated general knowledge about zoning, not this city's actual current code.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00984"/>
            <a:ext cx="402336" cy="402336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273552"/>
            <a:ext cx="10241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prompt: 'Using only the attached zoning code excerpt, what is the maximum building height allowed in the B-2 district? If the excerpt does not state this, say so explicitly.' — this constrains the answer to a specific, checkable source.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402336" cy="402336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270248"/>
            <a:ext cx="10241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two answers: does the ungrounded version cite a specific number with no source? That's a hallucination red flag even if the number happens to be plausible-sounding.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294376"/>
            <a:ext cx="402336" cy="402336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294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5266944"/>
            <a:ext cx="10241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step: regardless of which prompt was used, a human must confirm the final number against the actual current zoning code text before it's used in any real document — grounding reduces risk, it doesn't remove the verification requirement.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Misconceptions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881360" cy="4892040"/>
          </a:xfrm>
          <a:prstGeom prst="roundRect">
            <a:avLst>
              <a:gd name="adj" fmla="val 1308"/>
            </a:avLst>
          </a:prstGeom>
          <a:solidFill>
            <a:srgbClr val="FCEFD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10149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LLM knows facts the way a database does” — it generates statistically plausible text; it does not look up verified facts unless specifically grounded with retrieval.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bigger or newer model is always more accurate” — model scale improves many capabilities, but it does not eliminate hallucination, especially on narrow local facts like a specific city's current zoning code.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the answer sounds confident and detailed, it's probably right” — confidence and specificity are stylistic properties of the generated text, not evidence of accuracy.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“Grounding/RAG makes hallucination impossible” — it substantially reduces the risk but does not eliminate it; human verification against the named source is still required, every time.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Wrong: Over-Relying on Ungrounded LLM Drafts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881360" cy="4892040"/>
          </a:xfrm>
          <a:prstGeom prst="roundRect">
            <a:avLst>
              <a:gd name="adj" fmla="val 1308"/>
            </a:avLst>
          </a:prstGeom>
          <a:solidFill>
            <a:srgbClr val="FCEFD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10149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Revisiting the MyCity Business chatbot case with a sharper lens: the underlying failure was treating an LLM's fluent, confident-sounding answer about legally consequential topics as if it were equivalent to verified regulatory guidance.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implied by everything in this deck is concrete: ground the tool in the actual, current regulatory text (RAG), and route any answer touching legal or safety consequences through a defined human-expert review checkpoint before it reaches the public — not just a general disclaimer.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risk applies directly to your own team's Decision-Support Brief: any AI-drafted claim about zoning rules, funding eligibility, or legal requirements must be checked against a real, named, current source before it appears in your final Brief.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requirement behind the 'AI Output Evaluation' and 'AI Use Disclosure' sections of your Decision-Support Brief template — they exist because of failures exactly like this one.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731520"/>
            <a:ext cx="2743200" cy="2743200"/>
          </a:xfrm>
          <a:prstGeom prst="ellipse">
            <a:avLst/>
          </a:prstGeom>
          <a:solidFill>
            <a:srgbClr val="0F3A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ACTIVITY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Breakout: Grounded vs. Ungrounded Prompt Comparison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factual question about zoning or land use relevant to your team's project.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ungrounded prompt and a grounded prompt (attaching a real source excerpt) for the same question.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 (or discuss expected differences if you don't have tool access) and compare the two outputs.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 specific claim in either output that would need human verification before use, and name what source you'd check it against.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731520"/>
            <a:ext cx="2743200" cy="2743200"/>
          </a:xfrm>
          <a:prstGeom prst="ellipse">
            <a:avLst/>
          </a:prstGeom>
          <a:solidFill>
            <a:srgbClr val="0F3A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Next: Lab 7 — LLM Lab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7 runs immediately after this class, in the same Meeting 8 session.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(no code): structured prompting for stakeholder summaries, plus a deliberate hallucination hunt.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(Colab): use an LLM API or local model with RAG over a supplied comprehensive-plan excerpt, comparing grounded vs. ungrounded answers.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Artifact: a grounded stakeholder memo plus a hallucination log — bring both into your final Decision-Support Brief.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731520"/>
            <a:ext cx="2743200" cy="2743200"/>
          </a:xfrm>
          <a:prstGeom prst="ellipse">
            <a:avLst/>
          </a:prstGeom>
          <a:solidFill>
            <a:srgbClr val="0F3A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DUE NEXT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Due Next: Urban AI Decision-Support Brief + Presentation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deliverable, due at Meeting 8's final team presentations.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your grounded stakeholder memo and hallucination log from Lab 7 into the Brief's AI Output Evaluation section.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all Brief sections: urban issue, site analysis, stakeholders, criteria, scenarios, AI evaluation, responsible AI review, oversight plan, recommendation, and AI use disclosure.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your team's 5-minute presentation — top five teams receive gift cards.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LLMs in Decision Support</dc:title>
  <dc:subject>PptxGenJS Presentation</dc:subject>
  <dc:creator>Urban AI · MSU AI-Ready Initiative</dc:creator>
  <cp:lastModifiedBy>Urban AI · MSU AI-Ready Initiative</cp:lastModifiedBy>
  <cp:revision>1</cp:revision>
  <dcterms:created xsi:type="dcterms:W3CDTF">2026-08-11T12:52:23Z</dcterms:created>
  <dcterms:modified xsi:type="dcterms:W3CDTF">2026-08-11T12:52:23Z</dcterms:modified>
</cp:coreProperties>
</file>