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deck's organizing slide — the six lenses named here structure the rest of the deck. Consider writing them on a whiteboard or keeping the callout box visible as a running reference for the rest of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redlining example is real, well-documented history — HOLC maps are publicly archived and widely studied by economists and historians. Emphasize that bias can persist even without any explicit protected-characteristic input, since this is a common student misconception.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well-documented, individually-named case (Robert Williams) — treat it with appropriate seriousness. It's a strong anchor for the accountability and transparency discussion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directly back to the course's own Responsible AI policy — this is one of the most concrete, immediately applicable slides in the deck, since it's a rule students are already bound by in their own project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NYC Local Law 144 is real, current, and checkable — a good example of what transparency and accountability look like as enforceable law rather than best-practice advice. Callback to SyRI ties this slide to two earlier classes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explicitly to two earlier course artifacts: the Envision Utah case (Class 2-2) and the students' own Stakeholder Map deliverable. This slide should feel like a capstone of ideas already introduced, not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worked example is a compressed rehearsal of the full AI Output Audit Worksheet students completed after Class 1-2 — tell them explicitly that this is the same audit muscle, applied one more time with the ethics-specific lenses from today's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misconception connects directly to the design of this entire course — the Stakeholder Map and Criteria Matrix deliverable (Meeting 5) exists specifically to force these questions early rather than at the end. Make that connection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deck's — and the course's — closing content slide. Give students a moment to actually flip back through their own team's draft Brief mentally against the six lenses before moving into the breakout activity, since that's exactly what the breakout asks them to do 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9692640" y="4206240"/>
            <a:ext cx="2926080" cy="2926080"/>
          </a:xfrm>
          <a:prstGeom prst="ellipse">
            <a:avLst/>
          </a:prstGeom>
          <a:solidFill>
            <a:srgbClr val="0F3A63"/>
          </a:solidFill>
          <a:ln/>
        </p:spPr>
      </p:sp>
      <p:sp>
        <p:nvSpPr>
          <p:cNvPr id="3" name="Shape 1"/>
          <p:cNvSpPr/>
          <p:nvPr/>
        </p:nvSpPr>
        <p:spPr>
          <a:xfrm>
            <a:off x="10515600" y="5029200"/>
            <a:ext cx="1463040" cy="1463040"/>
          </a:xfrm>
          <a:prstGeom prst="ellipse">
            <a:avLst/>
          </a:prstGeom>
          <a:solidFill>
            <a:srgbClr val="1E7A8C">
              <a:alpha val="75000"/>
            </a:srgbClr>
          </a:solidFill>
          <a:ln/>
        </p:spPr>
      </p:sp>
      <p:sp>
        <p:nvSpPr>
          <p:cNvPr id="4" name="Shape 2"/>
          <p:cNvSpPr/>
          <p:nvPr/>
        </p:nvSpPr>
        <p:spPr>
          <a:xfrm>
            <a:off x="11247120" y="5760720"/>
            <a:ext cx="640080" cy="640080"/>
          </a:xfrm>
          <a:prstGeom prst="ellipse">
            <a:avLst/>
          </a:prstGeom>
          <a:solidFill>
            <a:srgbClr val="E8A33D"/>
          </a:solidFill>
          <a:ln/>
        </p:spPr>
      </p:sp>
      <p:sp>
        <p:nvSpPr>
          <p:cNvPr id="5" name="Text 3"/>
          <p:cNvSpPr/>
          <p:nvPr/>
        </p:nvSpPr>
        <p:spPr>
          <a:xfrm>
            <a:off x="640080" y="1005840"/>
            <a:ext cx="5486400" cy="457200"/>
          </a:xfrm>
          <a:prstGeom prst="rect">
            <a:avLst/>
          </a:prstGeom>
          <a:noFill/>
          <a:ln/>
        </p:spPr>
        <p:txBody>
          <a:bodyPr wrap="square" lIns="0" tIns="0" rIns="0" bIns="0" rtlCol="0" anchor="ctr"/>
          <a:lstStyle/>
          <a:p>
            <a:pPr indent="0" marL="0">
              <a:buNone/>
            </a:pPr>
            <a:r>
              <a:rPr lang="en-US" sz="1600" b="1" spc="200" kern="0" dirty="0">
                <a:solidFill>
                  <a:srgbClr val="E8A33D"/>
                </a:solidFill>
                <a:latin typeface="Calibri" pitchFamily="34" charset="0"/>
                <a:ea typeface="Calibri" pitchFamily="34" charset="-122"/>
                <a:cs typeface="Calibri" pitchFamily="34" charset="-120"/>
              </a:rPr>
              <a:t>CLASS 4-2</a:t>
            </a:r>
            <a:endParaRPr lang="en-US" sz="1600" dirty="0"/>
          </a:p>
        </p:txBody>
      </p:sp>
      <p:sp>
        <p:nvSpPr>
          <p:cNvPr id="6" name="Text 4"/>
          <p:cNvSpPr/>
          <p:nvPr/>
        </p:nvSpPr>
        <p:spPr>
          <a:xfrm>
            <a:off x="640080" y="1508760"/>
            <a:ext cx="9601200" cy="18288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AI Ethics for Urban Decision-Making</a:t>
            </a:r>
            <a:endParaRPr lang="en-US" sz="3800" dirty="0"/>
          </a:p>
        </p:txBody>
      </p:sp>
      <p:sp>
        <p:nvSpPr>
          <p:cNvPr id="7" name="Text 5"/>
          <p:cNvSpPr/>
          <p:nvPr/>
        </p:nvSpPr>
        <p:spPr>
          <a:xfrm>
            <a:off x="640080" y="3246120"/>
            <a:ext cx="868680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Urban AI: AI-Driven Decision Support for Real-World Urban Challenges</a:t>
            </a:r>
            <a:endParaRPr lang="en-US" sz="1500" dirty="0"/>
          </a:p>
        </p:txBody>
      </p:sp>
      <p:sp>
        <p:nvSpPr>
          <p:cNvPr id="8" name="Text 6"/>
          <p:cNvSpPr/>
          <p:nvPr/>
        </p:nvSpPr>
        <p:spPr>
          <a:xfrm>
            <a:off x="640080" y="3931920"/>
            <a:ext cx="7315200" cy="914400"/>
          </a:xfrm>
          <a:prstGeom prst="rect">
            <a:avLst/>
          </a:prstGeom>
          <a:noFill/>
          <a:ln/>
        </p:spPr>
        <p:txBody>
          <a:bodyPr wrap="square" lIns="0" tIns="0" rIns="0" bIns="0" rtlCol="0" anchor="ctr"/>
          <a:lstStyle/>
          <a:p>
            <a:pPr indent="0" marL="0">
              <a:lnSpc>
                <a:spcPct val="130000"/>
              </a:lnSpc>
              <a:buNone/>
            </a:pPr>
            <a:r>
              <a:rPr lang="en-US" sz="1400" b="1" dirty="0">
                <a:solidFill>
                  <a:srgbClr val="CADCFC"/>
                </a:solidFill>
                <a:latin typeface="Calibri" pitchFamily="34" charset="0"/>
                <a:ea typeface="Calibri" pitchFamily="34" charset="-122"/>
                <a:cs typeface="Calibri" pitchFamily="34" charset="-120"/>
              </a:rPr>
              <a:t>Instructor: </a:t>
            </a:r>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Jie Hou, Ph.D.
</a:t>
            </a:r>
            <a:pPr indent="0" marL="0">
              <a:lnSpc>
                <a:spcPct val="130000"/>
              </a:lnSpc>
              <a:buNone/>
            </a:pPr>
            <a:r>
              <a:rPr lang="en-US" sz="1400" b="1" dirty="0">
                <a:solidFill>
                  <a:srgbClr val="CADCFC"/>
                </a:solidFill>
                <a:latin typeface="Calibri" pitchFamily="34" charset="0"/>
                <a:ea typeface="Calibri" pitchFamily="34" charset="-122"/>
                <a:cs typeface="Calibri" pitchFamily="34" charset="-120"/>
              </a:rPr>
              <a:t>Duration: </a:t>
            </a:r>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30 minutes (Class segment of Meeting 8)</a:t>
            </a:r>
            <a:endParaRPr lang="en-US" sz="1400" dirty="0"/>
          </a:p>
        </p:txBody>
      </p:sp>
      <p:sp>
        <p:nvSpPr>
          <p:cNvPr id="9" name="Text 7"/>
          <p:cNvSpPr/>
          <p:nvPr/>
        </p:nvSpPr>
        <p:spPr>
          <a:xfrm>
            <a:off x="640080" y="6035040"/>
            <a:ext cx="7315200" cy="365760"/>
          </a:xfrm>
          <a:prstGeom prst="rect">
            <a:avLst/>
          </a:prstGeom>
          <a:noFill/>
          <a:ln/>
        </p:spPr>
        <p:txBody>
          <a:bodyPr wrap="square" lIns="0" tIns="0" rIns="0" bIns="0" rtlCol="0" anchor="ctr"/>
          <a:lstStyle/>
          <a:p>
            <a:pPr indent="0" marL="0">
              <a:buNone/>
            </a:pPr>
            <a:r>
              <a:rPr lang="en-US" sz="1100" dirty="0">
                <a:solidFill>
                  <a:srgbClr val="8FA6C2"/>
                </a:solidFill>
                <a:latin typeface="Calibri" pitchFamily="34" charset="0"/>
                <a:ea typeface="Calibri" pitchFamily="34" charset="-122"/>
                <a:cs typeface="Calibri" pitchFamily="34" charset="-120"/>
              </a:rPr>
              <a:t>MSU AI-Ready Initiative · Non-Credit Learning Experience</a:t>
            </a:r>
            <a:endParaRPr lang="en-US" sz="110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11" name="Text 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Where We Are</a:t>
            </a:r>
            <a:endParaRPr lang="en-US" sz="2800" dirty="0"/>
          </a:p>
        </p:txBody>
      </p:sp>
      <p:sp>
        <p:nvSpPr>
          <p:cNvPr id="4" name="Shape 2"/>
          <p:cNvSpPr/>
          <p:nvPr/>
        </p:nvSpPr>
        <p:spPr>
          <a:xfrm>
            <a:off x="1005840" y="3401568"/>
            <a:ext cx="10180015" cy="0"/>
          </a:xfrm>
          <a:prstGeom prst="line">
            <a:avLst/>
          </a:prstGeom>
          <a:noFill/>
          <a:ln w="25400">
            <a:solidFill>
              <a:srgbClr val="CCD6DE"/>
            </a:solidFill>
            <a:prstDash val="solid"/>
          </a:ln>
        </p:spPr>
      </p:sp>
      <p:sp>
        <p:nvSpPr>
          <p:cNvPr id="5" name="Shape 3"/>
          <p:cNvSpPr/>
          <p:nvPr/>
        </p:nvSpPr>
        <p:spPr>
          <a:xfrm>
            <a:off x="813816" y="3209544"/>
            <a:ext cx="384048" cy="384048"/>
          </a:xfrm>
          <a:prstGeom prst="ellipse">
            <a:avLst/>
          </a:prstGeom>
          <a:solidFill>
            <a:srgbClr val="1E7A8C"/>
          </a:solidFill>
          <a:ln w="12700">
            <a:solidFill>
              <a:srgbClr val="FFFFFF"/>
            </a:solidFill>
            <a:prstDash val="solid"/>
          </a:ln>
        </p:spPr>
      </p:sp>
      <p:sp>
        <p:nvSpPr>
          <p:cNvPr id="6" name="Text 4"/>
          <p:cNvSpPr/>
          <p:nvPr/>
        </p:nvSpPr>
        <p:spPr>
          <a:xfrm>
            <a:off x="457200"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1-1</a:t>
            </a:r>
            <a:endParaRPr lang="en-US" sz="1100" dirty="0"/>
          </a:p>
        </p:txBody>
      </p:sp>
      <p:sp>
        <p:nvSpPr>
          <p:cNvPr id="7" name="Text 5"/>
          <p:cNvSpPr/>
          <p:nvPr/>
        </p:nvSpPr>
        <p:spPr>
          <a:xfrm>
            <a:off x="320040"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Urban AI</a:t>
            </a:r>
            <a:endParaRPr lang="en-US" sz="950" dirty="0"/>
          </a:p>
        </p:txBody>
      </p:sp>
      <p:sp>
        <p:nvSpPr>
          <p:cNvPr id="8" name="Shape 6"/>
          <p:cNvSpPr/>
          <p:nvPr/>
        </p:nvSpPr>
        <p:spPr>
          <a:xfrm>
            <a:off x="2268104" y="3209544"/>
            <a:ext cx="384048" cy="384048"/>
          </a:xfrm>
          <a:prstGeom prst="ellipse">
            <a:avLst/>
          </a:prstGeom>
          <a:solidFill>
            <a:srgbClr val="1E7A8C"/>
          </a:solidFill>
          <a:ln w="12700">
            <a:solidFill>
              <a:srgbClr val="FFFFFF"/>
            </a:solidFill>
            <a:prstDash val="solid"/>
          </a:ln>
        </p:spPr>
      </p:sp>
      <p:sp>
        <p:nvSpPr>
          <p:cNvPr id="9" name="Text 7"/>
          <p:cNvSpPr/>
          <p:nvPr/>
        </p:nvSpPr>
        <p:spPr>
          <a:xfrm>
            <a:off x="1911488"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1-2</a:t>
            </a:r>
            <a:endParaRPr lang="en-US" sz="1100" dirty="0"/>
          </a:p>
        </p:txBody>
      </p:sp>
      <p:sp>
        <p:nvSpPr>
          <p:cNvPr id="10" name="Text 8"/>
          <p:cNvSpPr/>
          <p:nvPr/>
        </p:nvSpPr>
        <p:spPr>
          <a:xfrm>
            <a:off x="1774328"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AI Basics</a:t>
            </a:r>
            <a:endParaRPr lang="en-US" sz="950" dirty="0"/>
          </a:p>
        </p:txBody>
      </p:sp>
      <p:sp>
        <p:nvSpPr>
          <p:cNvPr id="11" name="Shape 9"/>
          <p:cNvSpPr/>
          <p:nvPr/>
        </p:nvSpPr>
        <p:spPr>
          <a:xfrm>
            <a:off x="3722392" y="3209544"/>
            <a:ext cx="384048" cy="384048"/>
          </a:xfrm>
          <a:prstGeom prst="ellipse">
            <a:avLst/>
          </a:prstGeom>
          <a:solidFill>
            <a:srgbClr val="1E7A8C"/>
          </a:solidFill>
          <a:ln w="12700">
            <a:solidFill>
              <a:srgbClr val="FFFFFF"/>
            </a:solidFill>
            <a:prstDash val="solid"/>
          </a:ln>
        </p:spPr>
      </p:sp>
      <p:sp>
        <p:nvSpPr>
          <p:cNvPr id="12" name="Text 10"/>
          <p:cNvSpPr/>
          <p:nvPr/>
        </p:nvSpPr>
        <p:spPr>
          <a:xfrm>
            <a:off x="3365776"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2-1</a:t>
            </a:r>
            <a:endParaRPr lang="en-US" sz="1100" dirty="0"/>
          </a:p>
        </p:txBody>
      </p:sp>
      <p:sp>
        <p:nvSpPr>
          <p:cNvPr id="13" name="Text 11"/>
          <p:cNvSpPr/>
          <p:nvPr/>
        </p:nvSpPr>
        <p:spPr>
          <a:xfrm>
            <a:off x="3228616"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Models I</a:t>
            </a:r>
            <a:endParaRPr lang="en-US" sz="950" dirty="0"/>
          </a:p>
        </p:txBody>
      </p:sp>
      <p:sp>
        <p:nvSpPr>
          <p:cNvPr id="14" name="Shape 12"/>
          <p:cNvSpPr/>
          <p:nvPr/>
        </p:nvSpPr>
        <p:spPr>
          <a:xfrm>
            <a:off x="5176680" y="3209544"/>
            <a:ext cx="384048" cy="384048"/>
          </a:xfrm>
          <a:prstGeom prst="ellipse">
            <a:avLst/>
          </a:prstGeom>
          <a:solidFill>
            <a:srgbClr val="1E7A8C"/>
          </a:solidFill>
          <a:ln w="12700">
            <a:solidFill>
              <a:srgbClr val="FFFFFF"/>
            </a:solidFill>
            <a:prstDash val="solid"/>
          </a:ln>
        </p:spPr>
      </p:sp>
      <p:sp>
        <p:nvSpPr>
          <p:cNvPr id="15" name="Text 13"/>
          <p:cNvSpPr/>
          <p:nvPr/>
        </p:nvSpPr>
        <p:spPr>
          <a:xfrm>
            <a:off x="4820064"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2-2</a:t>
            </a:r>
            <a:endParaRPr lang="en-US" sz="1100" dirty="0"/>
          </a:p>
        </p:txBody>
      </p:sp>
      <p:sp>
        <p:nvSpPr>
          <p:cNvPr id="16" name="Text 14"/>
          <p:cNvSpPr/>
          <p:nvPr/>
        </p:nvSpPr>
        <p:spPr>
          <a:xfrm>
            <a:off x="4682904"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Models II</a:t>
            </a:r>
            <a:endParaRPr lang="en-US" sz="950" dirty="0"/>
          </a:p>
        </p:txBody>
      </p:sp>
      <p:sp>
        <p:nvSpPr>
          <p:cNvPr id="17" name="Shape 15"/>
          <p:cNvSpPr/>
          <p:nvPr/>
        </p:nvSpPr>
        <p:spPr>
          <a:xfrm>
            <a:off x="6630968" y="3209544"/>
            <a:ext cx="384048" cy="384048"/>
          </a:xfrm>
          <a:prstGeom prst="ellipse">
            <a:avLst/>
          </a:prstGeom>
          <a:solidFill>
            <a:srgbClr val="1E7A8C"/>
          </a:solidFill>
          <a:ln w="12700">
            <a:solidFill>
              <a:srgbClr val="FFFFFF"/>
            </a:solidFill>
            <a:prstDash val="solid"/>
          </a:ln>
        </p:spPr>
      </p:sp>
      <p:sp>
        <p:nvSpPr>
          <p:cNvPr id="18" name="Text 16"/>
          <p:cNvSpPr/>
          <p:nvPr/>
        </p:nvSpPr>
        <p:spPr>
          <a:xfrm>
            <a:off x="6274352"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3-1</a:t>
            </a:r>
            <a:endParaRPr lang="en-US" sz="1100" dirty="0"/>
          </a:p>
        </p:txBody>
      </p:sp>
      <p:sp>
        <p:nvSpPr>
          <p:cNvPr id="19" name="Text 17"/>
          <p:cNvSpPr/>
          <p:nvPr/>
        </p:nvSpPr>
        <p:spPr>
          <a:xfrm>
            <a:off x="6137192"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DSS Cases I</a:t>
            </a:r>
            <a:endParaRPr lang="en-US" sz="950" dirty="0"/>
          </a:p>
        </p:txBody>
      </p:sp>
      <p:sp>
        <p:nvSpPr>
          <p:cNvPr id="20" name="Shape 18"/>
          <p:cNvSpPr/>
          <p:nvPr/>
        </p:nvSpPr>
        <p:spPr>
          <a:xfrm>
            <a:off x="8085255" y="3209544"/>
            <a:ext cx="384048" cy="384048"/>
          </a:xfrm>
          <a:prstGeom prst="ellipse">
            <a:avLst/>
          </a:prstGeom>
          <a:solidFill>
            <a:srgbClr val="1E7A8C"/>
          </a:solidFill>
          <a:ln w="12700">
            <a:solidFill>
              <a:srgbClr val="FFFFFF"/>
            </a:solidFill>
            <a:prstDash val="solid"/>
          </a:ln>
        </p:spPr>
      </p:sp>
      <p:sp>
        <p:nvSpPr>
          <p:cNvPr id="21" name="Text 19"/>
          <p:cNvSpPr/>
          <p:nvPr/>
        </p:nvSpPr>
        <p:spPr>
          <a:xfrm>
            <a:off x="7728639"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3-2</a:t>
            </a:r>
            <a:endParaRPr lang="en-US" sz="1100" dirty="0"/>
          </a:p>
        </p:txBody>
      </p:sp>
      <p:sp>
        <p:nvSpPr>
          <p:cNvPr id="22" name="Text 20"/>
          <p:cNvSpPr/>
          <p:nvPr/>
        </p:nvSpPr>
        <p:spPr>
          <a:xfrm>
            <a:off x="7591479"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DSS Cases II</a:t>
            </a:r>
            <a:endParaRPr lang="en-US" sz="950" dirty="0"/>
          </a:p>
        </p:txBody>
      </p:sp>
      <p:sp>
        <p:nvSpPr>
          <p:cNvPr id="23" name="Shape 21"/>
          <p:cNvSpPr/>
          <p:nvPr/>
        </p:nvSpPr>
        <p:spPr>
          <a:xfrm>
            <a:off x="9539543" y="3209544"/>
            <a:ext cx="384048" cy="384048"/>
          </a:xfrm>
          <a:prstGeom prst="ellipse">
            <a:avLst/>
          </a:prstGeom>
          <a:solidFill>
            <a:srgbClr val="1E7A8C"/>
          </a:solidFill>
          <a:ln w="12700">
            <a:solidFill>
              <a:srgbClr val="FFFFFF"/>
            </a:solidFill>
            <a:prstDash val="solid"/>
          </a:ln>
        </p:spPr>
      </p:sp>
      <p:sp>
        <p:nvSpPr>
          <p:cNvPr id="24" name="Text 22"/>
          <p:cNvSpPr/>
          <p:nvPr/>
        </p:nvSpPr>
        <p:spPr>
          <a:xfrm>
            <a:off x="9182927"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4-1</a:t>
            </a:r>
            <a:endParaRPr lang="en-US" sz="1100" dirty="0"/>
          </a:p>
        </p:txBody>
      </p:sp>
      <p:sp>
        <p:nvSpPr>
          <p:cNvPr id="25" name="Text 23"/>
          <p:cNvSpPr/>
          <p:nvPr/>
        </p:nvSpPr>
        <p:spPr>
          <a:xfrm>
            <a:off x="9045767"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LLMs in DSS</a:t>
            </a:r>
            <a:endParaRPr lang="en-US" sz="950" dirty="0"/>
          </a:p>
        </p:txBody>
      </p:sp>
      <p:sp>
        <p:nvSpPr>
          <p:cNvPr id="26" name="Shape 24"/>
          <p:cNvSpPr/>
          <p:nvPr/>
        </p:nvSpPr>
        <p:spPr>
          <a:xfrm>
            <a:off x="10902391" y="3118104"/>
            <a:ext cx="566928" cy="566928"/>
          </a:xfrm>
          <a:prstGeom prst="ellipse">
            <a:avLst/>
          </a:prstGeom>
          <a:solidFill>
            <a:srgbClr val="E8A33D"/>
          </a:solidFill>
          <a:ln w="25400">
            <a:solidFill>
              <a:srgbClr val="FFFFFF"/>
            </a:solidFill>
            <a:prstDash val="solid"/>
          </a:ln>
        </p:spPr>
      </p:sp>
      <p:sp>
        <p:nvSpPr>
          <p:cNvPr id="27" name="Text 25"/>
          <p:cNvSpPr/>
          <p:nvPr/>
        </p:nvSpPr>
        <p:spPr>
          <a:xfrm>
            <a:off x="10820095" y="3264408"/>
            <a:ext cx="731520" cy="320040"/>
          </a:xfrm>
          <a:prstGeom prst="rect">
            <a:avLst/>
          </a:prstGeom>
          <a:noFill/>
          <a:ln/>
        </p:spPr>
        <p:txBody>
          <a:bodyPr wrap="square" lIns="0" tIns="0" rIns="0" bIns="0" rtlCol="0" anchor="ctr"/>
          <a:lstStyle/>
          <a:p>
            <a:pPr algn="ctr" indent="0" marL="0">
              <a:buNone/>
            </a:pPr>
            <a:r>
              <a:rPr lang="en-US" sz="1200" b="1" dirty="0">
                <a:solidFill>
                  <a:srgbClr val="132A4C"/>
                </a:solidFill>
                <a:latin typeface="Calibri" pitchFamily="34" charset="0"/>
                <a:ea typeface="Calibri" pitchFamily="34" charset="-122"/>
                <a:cs typeface="Calibri" pitchFamily="34" charset="-120"/>
              </a:rPr>
              <a:t>4-2</a:t>
            </a:r>
            <a:endParaRPr lang="en-US" sz="1200" dirty="0"/>
          </a:p>
        </p:txBody>
      </p:sp>
      <p:sp>
        <p:nvSpPr>
          <p:cNvPr id="28" name="Text 26"/>
          <p:cNvSpPr/>
          <p:nvPr/>
        </p:nvSpPr>
        <p:spPr>
          <a:xfrm>
            <a:off x="10637215" y="3794760"/>
            <a:ext cx="1097280" cy="274320"/>
          </a:xfrm>
          <a:prstGeom prst="rect">
            <a:avLst/>
          </a:prstGeom>
          <a:noFill/>
          <a:ln/>
        </p:spPr>
        <p:txBody>
          <a:bodyPr wrap="square" lIns="0" tIns="0" rIns="0" bIns="0" rtlCol="0" anchor="ctr"/>
          <a:lstStyle/>
          <a:p>
            <a:pPr algn="ctr" indent="0" marL="0">
              <a:buNone/>
            </a:pPr>
            <a:r>
              <a:rPr lang="en-US" sz="1100" b="1" dirty="0">
                <a:solidFill>
                  <a:srgbClr val="132A4C"/>
                </a:solidFill>
                <a:latin typeface="Calibri" pitchFamily="34" charset="0"/>
                <a:ea typeface="Calibri" pitchFamily="34" charset="-122"/>
                <a:cs typeface="Calibri" pitchFamily="34" charset="-120"/>
              </a:rPr>
              <a:t>4-2</a:t>
            </a:r>
            <a:endParaRPr lang="en-US" sz="1100" dirty="0"/>
          </a:p>
        </p:txBody>
      </p:sp>
      <p:sp>
        <p:nvSpPr>
          <p:cNvPr id="29" name="Text 27"/>
          <p:cNvSpPr/>
          <p:nvPr/>
        </p:nvSpPr>
        <p:spPr>
          <a:xfrm>
            <a:off x="10500055" y="4069080"/>
            <a:ext cx="1371600" cy="457200"/>
          </a:xfrm>
          <a:prstGeom prst="rect">
            <a:avLst/>
          </a:prstGeom>
          <a:noFill/>
          <a:ln/>
        </p:spPr>
        <p:txBody>
          <a:bodyPr wrap="square" lIns="0" tIns="0" rIns="0" bIns="0" rtlCol="0" anchor="ctr"/>
          <a:lstStyle/>
          <a:p>
            <a:pPr algn="ctr" indent="0" marL="0">
              <a:buNone/>
            </a:pPr>
            <a:r>
              <a:rPr lang="en-US" sz="950" dirty="0">
                <a:solidFill>
                  <a:srgbClr val="1B2A3D"/>
                </a:solidFill>
                <a:latin typeface="Calibri" pitchFamily="34" charset="0"/>
                <a:ea typeface="Calibri" pitchFamily="34" charset="-122"/>
                <a:cs typeface="Calibri" pitchFamily="34" charset="-120"/>
              </a:rPr>
              <a:t>AI Ethics</a:t>
            </a:r>
            <a:endParaRPr lang="en-US" sz="950" dirty="0"/>
          </a:p>
        </p:txBody>
      </p:sp>
      <p:sp>
        <p:nvSpPr>
          <p:cNvPr id="30" name="Text 28"/>
          <p:cNvSpPr/>
          <p:nvPr/>
        </p:nvSpPr>
        <p:spPr>
          <a:xfrm>
            <a:off x="1005840" y="5120640"/>
            <a:ext cx="10149840" cy="822960"/>
          </a:xfrm>
          <a:prstGeom prst="rect">
            <a:avLst/>
          </a:prstGeom>
          <a:noFill/>
          <a:ln/>
        </p:spPr>
        <p:txBody>
          <a:bodyPr wrap="square" lIns="0" tIns="0" rIns="0" bIns="0" rtlCol="0" anchor="ctr"/>
          <a:lstStyle/>
          <a:p>
            <a:pPr indent="0" marL="0">
              <a:buNone/>
            </a:pPr>
            <a:r>
              <a:rPr lang="en-US" sz="1400" i="1" dirty="0">
                <a:solidFill>
                  <a:srgbClr val="5B6B7C"/>
                </a:solidFill>
                <a:latin typeface="Calibri" pitchFamily="34" charset="0"/>
                <a:ea typeface="Calibri" pitchFamily="34" charset="-122"/>
                <a:cs typeface="Calibri" pitchFamily="34" charset="-120"/>
              </a:rPr>
              <a:t>Eight class meetings build from foundational concepts to a team-built, human-reviewed Urban AI Decision-Support Brief. Today's class is highlighted in amber above.</a:t>
            </a:r>
            <a:endParaRPr lang="en-US" sz="1400" dirty="0"/>
          </a:p>
        </p:txBody>
      </p:sp>
      <p:sp>
        <p:nvSpPr>
          <p:cNvPr id="31" name="Text 29"/>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32"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Learning Objectives</a:t>
            </a:r>
            <a:endParaRPr lang="en-US" sz="2800" dirty="0"/>
          </a:p>
        </p:txBody>
      </p:sp>
      <p:sp>
        <p:nvSpPr>
          <p:cNvPr id="4" name="Text 2"/>
          <p:cNvSpPr/>
          <p:nvPr/>
        </p:nvSpPr>
        <p:spPr>
          <a:xfrm>
            <a:off x="640080" y="1143000"/>
            <a:ext cx="10515600" cy="365760"/>
          </a:xfrm>
          <a:prstGeom prst="rect">
            <a:avLst/>
          </a:prstGeom>
          <a:noFill/>
          <a:ln/>
        </p:spPr>
        <p:txBody>
          <a:bodyPr wrap="square" lIns="0" tIns="0" rIns="0" bIns="0" rtlCol="0" anchor="ctr"/>
          <a:lstStyle/>
          <a:p>
            <a:pPr indent="0" marL="0">
              <a:buNone/>
            </a:pPr>
            <a:r>
              <a:rPr lang="en-US" sz="1400" i="1" dirty="0">
                <a:solidFill>
                  <a:srgbClr val="5B6B7C"/>
                </a:solidFill>
                <a:latin typeface="Calibri" pitchFamily="34" charset="0"/>
                <a:ea typeface="Calibri" pitchFamily="34" charset="-122"/>
                <a:cs typeface="Calibri" pitchFamily="34" charset="-120"/>
              </a:rPr>
              <a:t>By the end of this class, you will be able to:</a:t>
            </a:r>
            <a:endParaRPr lang="en-US" sz="1400" dirty="0"/>
          </a:p>
        </p:txBody>
      </p:sp>
      <p:sp>
        <p:nvSpPr>
          <p:cNvPr id="5" name="Shape 3"/>
          <p:cNvSpPr/>
          <p:nvPr/>
        </p:nvSpPr>
        <p:spPr>
          <a:xfrm>
            <a:off x="640080" y="1737360"/>
            <a:ext cx="457200" cy="457200"/>
          </a:xfrm>
          <a:prstGeom prst="ellipse">
            <a:avLst/>
          </a:prstGeom>
          <a:solidFill>
            <a:srgbClr val="132A4C"/>
          </a:solidFill>
          <a:ln/>
        </p:spPr>
      </p:sp>
      <p:sp>
        <p:nvSpPr>
          <p:cNvPr id="6" name="Text 4"/>
          <p:cNvSpPr/>
          <p:nvPr/>
        </p:nvSpPr>
        <p:spPr>
          <a:xfrm>
            <a:off x="6400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325880" y="1691640"/>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Define bias, equity, privacy, transparency, accountability, and participation as they apply to Urban AI.</a:t>
            </a:r>
            <a:endParaRPr lang="en-US" sz="1500" dirty="0"/>
          </a:p>
        </p:txBody>
      </p:sp>
      <p:sp>
        <p:nvSpPr>
          <p:cNvPr id="8" name="Shape 6"/>
          <p:cNvSpPr/>
          <p:nvPr/>
        </p:nvSpPr>
        <p:spPr>
          <a:xfrm>
            <a:off x="640080" y="2688336"/>
            <a:ext cx="457200" cy="457200"/>
          </a:xfrm>
          <a:prstGeom prst="ellipse">
            <a:avLst/>
          </a:prstGeom>
          <a:solidFill>
            <a:srgbClr val="132A4C"/>
          </a:solidFill>
          <a:ln/>
        </p:spPr>
      </p:sp>
      <p:sp>
        <p:nvSpPr>
          <p:cNvPr id="9" name="Text 7"/>
          <p:cNvSpPr/>
          <p:nvPr/>
        </p:nvSpPr>
        <p:spPr>
          <a:xfrm>
            <a:off x="640080" y="26883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325880" y="2642616"/>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Describe two real, documented cases of AI-related harm or governance failure in an urban/government context.</a:t>
            </a:r>
            <a:endParaRPr lang="en-US" sz="1500" dirty="0"/>
          </a:p>
        </p:txBody>
      </p:sp>
      <p:sp>
        <p:nvSpPr>
          <p:cNvPr id="11" name="Shape 9"/>
          <p:cNvSpPr/>
          <p:nvPr/>
        </p:nvSpPr>
        <p:spPr>
          <a:xfrm>
            <a:off x="640080" y="3639312"/>
            <a:ext cx="457200" cy="457200"/>
          </a:xfrm>
          <a:prstGeom prst="ellipse">
            <a:avLst/>
          </a:prstGeom>
          <a:solidFill>
            <a:srgbClr val="132A4C"/>
          </a:solidFill>
          <a:ln/>
        </p:spPr>
      </p:sp>
      <p:sp>
        <p:nvSpPr>
          <p:cNvPr id="12" name="Text 10"/>
          <p:cNvSpPr/>
          <p:nvPr/>
        </p:nvSpPr>
        <p:spPr>
          <a:xfrm>
            <a:off x="640080" y="36393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325880" y="3593592"/>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Explain how historical data sources like redlining maps can encode bias into modern models.</a:t>
            </a:r>
            <a:endParaRPr lang="en-US" sz="1500" dirty="0"/>
          </a:p>
        </p:txBody>
      </p:sp>
      <p:sp>
        <p:nvSpPr>
          <p:cNvPr id="14" name="Shape 12"/>
          <p:cNvSpPr/>
          <p:nvPr/>
        </p:nvSpPr>
        <p:spPr>
          <a:xfrm>
            <a:off x="640080" y="4590288"/>
            <a:ext cx="457200" cy="457200"/>
          </a:xfrm>
          <a:prstGeom prst="ellipse">
            <a:avLst/>
          </a:prstGeom>
          <a:solidFill>
            <a:srgbClr val="132A4C"/>
          </a:solidFill>
          <a:ln/>
        </p:spPr>
      </p:sp>
      <p:sp>
        <p:nvSpPr>
          <p:cNvPr id="15" name="Text 13"/>
          <p:cNvSpPr/>
          <p:nvPr/>
        </p:nvSpPr>
        <p:spPr>
          <a:xfrm>
            <a:off x="640080"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325880" y="4544568"/>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Identify concrete transparency and accountability mechanisms, including at least one real municipal policy.</a:t>
            </a:r>
            <a:endParaRPr lang="en-US" sz="1500" dirty="0"/>
          </a:p>
        </p:txBody>
      </p:sp>
      <p:sp>
        <p:nvSpPr>
          <p:cNvPr id="17" name="Shape 15"/>
          <p:cNvSpPr/>
          <p:nvPr/>
        </p:nvSpPr>
        <p:spPr>
          <a:xfrm>
            <a:off x="640080" y="5541264"/>
            <a:ext cx="457200" cy="457200"/>
          </a:xfrm>
          <a:prstGeom prst="ellipse">
            <a:avLst/>
          </a:prstGeom>
          <a:solidFill>
            <a:srgbClr val="132A4C"/>
          </a:solidFill>
          <a:ln/>
        </p:spPr>
      </p:sp>
      <p:sp>
        <p:nvSpPr>
          <p:cNvPr id="18" name="Text 16"/>
          <p:cNvSpPr/>
          <p:nvPr/>
        </p:nvSpPr>
        <p:spPr>
          <a:xfrm>
            <a:off x="640080" y="55412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1325880" y="5495544"/>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Apply the course's Responsible AI policy to a short case as a final, integrative exercise.</a:t>
            </a:r>
            <a:endParaRPr lang="en-US" sz="1500" dirty="0"/>
          </a:p>
        </p:txBody>
      </p:sp>
      <p:sp>
        <p:nvSpPr>
          <p:cNvPr id="20" name="Text 1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21"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Why AI Ethics Matters in Urban Decisions</a:t>
            </a:r>
            <a:endParaRPr lang="en-US" sz="2800" dirty="0"/>
          </a:p>
        </p:txBody>
      </p:sp>
      <p:sp>
        <p:nvSpPr>
          <p:cNvPr id="4" name="Text 2"/>
          <p:cNvSpPr/>
          <p:nvPr/>
        </p:nvSpPr>
        <p:spPr>
          <a:xfrm>
            <a:off x="640080" y="1234440"/>
            <a:ext cx="704088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Every Urban AI or DSS tool discussed this course touches real people, real neighborhoods, and real public budgets — the stakes are categorically different from a low-stakes consumer recommendation.</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Urban decisions also have a long institutional memory: a biased or opaque tool used today can shape which neighborhoods get investment, enforcement, or services for years afterward.</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This class organizes ethics around six concrete lenses — bias, equity, privacy, transparency, accountability, and participation — that you'll apply directly to your team's Decision-Support Brief.</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None of these lenses are abstract philosophy for this course — each connects to a specific section of your final deliverable and to a case you've already seen in an earlier class.</a:t>
            </a:r>
            <a:endParaRPr lang="en-US" sz="1500" dirty="0"/>
          </a:p>
        </p:txBody>
      </p:sp>
      <p:sp>
        <p:nvSpPr>
          <p:cNvPr id="5" name="Shape 3"/>
          <p:cNvSpPr/>
          <p:nvPr/>
        </p:nvSpPr>
        <p:spPr>
          <a:xfrm>
            <a:off x="8001000" y="1234440"/>
            <a:ext cx="3566160" cy="2103120"/>
          </a:xfrm>
          <a:prstGeom prst="roundRect">
            <a:avLst>
              <a:gd name="adj" fmla="val 3478"/>
            </a:avLst>
          </a:prstGeom>
          <a:solidFill>
            <a:srgbClr val="EEF3F6"/>
          </a:solidFill>
          <a:ln/>
        </p:spPr>
      </p:sp>
      <p:sp>
        <p:nvSpPr>
          <p:cNvPr id="6" name="Text 4"/>
          <p:cNvSpPr/>
          <p:nvPr/>
        </p:nvSpPr>
        <p:spPr>
          <a:xfrm>
            <a:off x="8229600" y="1417320"/>
            <a:ext cx="3108960" cy="320040"/>
          </a:xfrm>
          <a:prstGeom prst="rect">
            <a:avLst/>
          </a:prstGeom>
          <a:noFill/>
          <a:ln/>
        </p:spPr>
        <p:txBody>
          <a:bodyPr wrap="square" lIns="0" tIns="0" rIns="0" bIns="0" rtlCol="0" anchor="ctr"/>
          <a:lstStyle/>
          <a:p>
            <a:pPr indent="0" marL="0">
              <a:buNone/>
            </a:pPr>
            <a:r>
              <a:rPr lang="en-US" sz="1100" b="1" spc="100" kern="0" dirty="0">
                <a:solidFill>
                  <a:srgbClr val="1E7A8C"/>
                </a:solidFill>
                <a:latin typeface="Calibri" pitchFamily="34" charset="0"/>
                <a:ea typeface="Calibri" pitchFamily="34" charset="-122"/>
                <a:cs typeface="Calibri" pitchFamily="34" charset="-120"/>
              </a:rPr>
              <a:t>SIX LENSES</a:t>
            </a:r>
            <a:endParaRPr lang="en-US" sz="1100" dirty="0"/>
          </a:p>
        </p:txBody>
      </p:sp>
      <p:sp>
        <p:nvSpPr>
          <p:cNvPr id="7" name="Text 5"/>
          <p:cNvSpPr/>
          <p:nvPr/>
        </p:nvSpPr>
        <p:spPr>
          <a:xfrm>
            <a:off x="8229600" y="1783080"/>
            <a:ext cx="3108960" cy="1508760"/>
          </a:xfrm>
          <a:prstGeom prst="rect">
            <a:avLst/>
          </a:prstGeom>
          <a:noFill/>
          <a:ln/>
        </p:spPr>
        <p:txBody>
          <a:bodyPr wrap="square" lIns="0" tIns="0" rIns="0" bIns="0" rtlCol="0" anchor="t"/>
          <a:lstStyle/>
          <a:p>
            <a:pPr indent="0" marL="0">
              <a:lnSpc>
                <a:spcPct val="115000"/>
              </a:lnSpc>
              <a:buNone/>
            </a:pPr>
            <a:r>
              <a:rPr lang="en-US" sz="1400" i="1" dirty="0">
                <a:solidFill>
                  <a:srgbClr val="132A4C"/>
                </a:solidFill>
                <a:latin typeface="Cambria" pitchFamily="34" charset="0"/>
                <a:ea typeface="Cambria" pitchFamily="34" charset="-122"/>
                <a:cs typeface="Cambria" pitchFamily="34" charset="-120"/>
              </a:rPr>
              <a:t>Bias · Equity · Privacy · Transparency · Accountability · Participation</a:t>
            </a:r>
            <a:endParaRPr lang="en-US" sz="14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9"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Bias and Equity</a:t>
            </a:r>
            <a:endParaRPr lang="en-US" sz="2800" dirty="0"/>
          </a:p>
        </p:txBody>
      </p:sp>
      <p:sp>
        <p:nvSpPr>
          <p:cNvPr id="4" name="Text 2"/>
          <p:cNvSpPr/>
          <p:nvPr/>
        </p:nvSpPr>
        <p:spPr>
          <a:xfrm>
            <a:off x="640080" y="1234440"/>
            <a:ext cx="1051560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Bias, in this context, means a model's outputs systematically favor or disadvantage a group — often not because of explicit intent, but because of what data the model learned from.</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Historical redlining maps, drawn by the federal Home Owners' Loan Corporation in the 1930s to grade neighborhoods for mortgage risk (openly using race as a factor), are a real, well-documented historical source of data patterns that still show up in modern property-value and lending-related datasets.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A model trained on historically skewed records — who was investigated, who was denied a loan, which neighborhoods were over- or under-policed — can reproduce those patterns even when race or income is never used as an explicit input feature.</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Equity asks a further question beyond bias: even a statistically 'accurate' model can produce inequitable outcomes if it wasn't designed to consider who is helped and who is burdened by its use.</a:t>
            </a:r>
            <a:endParaRPr lang="en-US" sz="1500" dirty="0"/>
          </a:p>
        </p:txBody>
      </p:sp>
      <p:sp>
        <p:nvSpPr>
          <p:cNvPr id="5" name="Text 3"/>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6"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32A4C"/>
          </a:solidFill>
          <a:ln/>
        </p:spPr>
      </p:sp>
      <p:sp>
        <p:nvSpPr>
          <p:cNvPr id="3" name="Text 1"/>
          <p:cNvSpPr/>
          <p:nvPr/>
        </p:nvSpPr>
        <p:spPr>
          <a:xfrm>
            <a:off x="640080" y="256032"/>
            <a:ext cx="36576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CASE STUDY</a:t>
            </a:r>
            <a:endParaRPr lang="en-US" sz="1200" dirty="0"/>
          </a:p>
        </p:txBody>
      </p:sp>
      <p:sp>
        <p:nvSpPr>
          <p:cNvPr id="4" name="Text 2"/>
          <p:cNvSpPr/>
          <p:nvPr/>
        </p:nvSpPr>
        <p:spPr>
          <a:xfrm>
            <a:off x="640080" y="566928"/>
            <a:ext cx="10881360" cy="7772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Detroit — Wrongful Arrest from Facial Recognition</a:t>
            </a:r>
            <a:endParaRPr lang="en-US" sz="2400" dirty="0"/>
          </a:p>
        </p:txBody>
      </p:sp>
      <p:sp>
        <p:nvSpPr>
          <p:cNvPr id="5" name="Text 3"/>
          <p:cNvSpPr/>
          <p:nvPr/>
        </p:nvSpPr>
        <p:spPr>
          <a:xfrm>
            <a:off x="640080" y="1737360"/>
            <a:ext cx="6949440" cy="411480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In 2020, Robert Williams was wrongfully arrested by the Detroit Police Department after a facial-recognition match incorrectly identified him as a suspect in a shoplifting case — a case widely documented by the ACLU, which represented him, and covered extensively by national media.</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Facial-recognition systems have been repeatedly documented, including in federal NIST testing, to have higher error rates for some demographic groups than others, which compounds risk when used as primary rather than corroborating evidence.</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The case led to policy changes in how Detroit's police department could use facial-recognition matches, and became a widely cited example in the broader national debate over municipal facial-recognition use.</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It's a clear illustration of accuracy and bias combining into real, serious harm — a wrongful arrest — not merely an abstract fairness concern.</a:t>
            </a:r>
            <a:endParaRPr lang="en-US" sz="1450" dirty="0"/>
          </a:p>
        </p:txBody>
      </p:sp>
      <p:sp>
        <p:nvSpPr>
          <p:cNvPr id="6" name="Shape 4"/>
          <p:cNvSpPr/>
          <p:nvPr/>
        </p:nvSpPr>
        <p:spPr>
          <a:xfrm>
            <a:off x="7863840" y="1737360"/>
            <a:ext cx="3703320" cy="3931920"/>
          </a:xfrm>
          <a:prstGeom prst="roundRect">
            <a:avLst>
              <a:gd name="adj" fmla="val 1975"/>
            </a:avLst>
          </a:prstGeom>
          <a:solidFill>
            <a:srgbClr val="FCEFDC"/>
          </a:solidFill>
          <a:ln/>
        </p:spPr>
      </p:sp>
      <p:sp>
        <p:nvSpPr>
          <p:cNvPr id="7" name="Text 5"/>
          <p:cNvSpPr/>
          <p:nvPr/>
        </p:nvSpPr>
        <p:spPr>
          <a:xfrm>
            <a:off x="8092440" y="1920240"/>
            <a:ext cx="3291840" cy="320040"/>
          </a:xfrm>
          <a:prstGeom prst="rect">
            <a:avLst/>
          </a:prstGeom>
          <a:noFill/>
          <a:ln/>
        </p:spPr>
        <p:txBody>
          <a:bodyPr wrap="square" lIns="0" tIns="0" rIns="0" bIns="0" rtlCol="0" anchor="ctr"/>
          <a:lstStyle/>
          <a:p>
            <a:pPr indent="0" marL="0">
              <a:buNone/>
            </a:pPr>
            <a:r>
              <a:rPr lang="en-US" sz="1100" b="1" spc="100" kern="0" dirty="0">
                <a:solidFill>
                  <a:srgbClr val="8A5A12"/>
                </a:solidFill>
                <a:latin typeface="Calibri" pitchFamily="34" charset="0"/>
                <a:ea typeface="Calibri" pitchFamily="34" charset="-122"/>
                <a:cs typeface="Calibri" pitchFamily="34" charset="-120"/>
              </a:rPr>
              <a:t>WHY IT MATTERS</a:t>
            </a:r>
            <a:endParaRPr lang="en-US" sz="1100" dirty="0"/>
          </a:p>
        </p:txBody>
      </p:sp>
      <p:sp>
        <p:nvSpPr>
          <p:cNvPr id="8" name="Text 6"/>
          <p:cNvSpPr/>
          <p:nvPr/>
        </p:nvSpPr>
        <p:spPr>
          <a:xfrm>
            <a:off x="8092440" y="2286000"/>
            <a:ext cx="3246120" cy="3200400"/>
          </a:xfrm>
          <a:prstGeom prst="rect">
            <a:avLst/>
          </a:prstGeom>
          <a:noFill/>
          <a:ln/>
        </p:spPr>
        <p:txBody>
          <a:bodyPr wrap="square" lIns="0" tIns="0" rIns="0" bIns="0" rtlCol="0" anchor="t"/>
          <a:lstStyle/>
          <a:p>
            <a:pPr indent="0" marL="0">
              <a:lnSpc>
                <a:spcPct val="120000"/>
              </a:lnSpc>
              <a:buNone/>
            </a:pPr>
            <a:r>
              <a:rPr lang="en-US" sz="1350" dirty="0">
                <a:solidFill>
                  <a:srgbClr val="1B2A3D"/>
                </a:solidFill>
                <a:latin typeface="Calibri" pitchFamily="34" charset="0"/>
                <a:ea typeface="Calibri" pitchFamily="34" charset="-122"/>
                <a:cs typeface="Calibri" pitchFamily="34" charset="-120"/>
              </a:rPr>
              <a:t>This case grounds 'bias' in a concrete, individual, documented harm rather than an abstract statistic — a useful reminder that behind every fairness discussion in this course is a real person who could be affected by your team's design choices.</a:t>
            </a:r>
            <a:endParaRPr lang="en-US" sz="1350" dirty="0"/>
          </a:p>
        </p:txBody>
      </p:sp>
      <p:sp>
        <p:nvSpPr>
          <p:cNvPr id="9" name="Text 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10" name="Text 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Privacy in Urban AI</a:t>
            </a:r>
            <a:endParaRPr lang="en-US" sz="2800" dirty="0"/>
          </a:p>
        </p:txBody>
      </p:sp>
      <p:sp>
        <p:nvSpPr>
          <p:cNvPr id="4" name="Text 2"/>
          <p:cNvSpPr/>
          <p:nvPr/>
        </p:nvSpPr>
        <p:spPr>
          <a:xfrm>
            <a:off x="640080" y="1234440"/>
            <a:ext cx="1051560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Privacy concerns arise whenever an Urban AI or DSS tool collects, stores, or infers information about identifiable individuals — location patterns, service requests, or personal circumstances.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Automated License Plate Readers (ALPRs), now used by many U.S. police and some municipal agencies, are a real, widely deployed technology that raises exactly this concern: they can build a detailed movement history for anyone whose plate is scanned, not just people under investigation.</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Recall the course's Responsible AI policy from Orientation: no personal, identifiable, or restricted data may be entered into an AI tool — public or synthetic data only.</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Privacy risk isn't limited to obviously sensitive data — location, timing, and behavioral patterns can be combined ('mosaic effect') to re-identify someone even from data that looks anonymous on its own.</a:t>
            </a:r>
            <a:endParaRPr lang="en-US" sz="1500" dirty="0"/>
          </a:p>
        </p:txBody>
      </p:sp>
      <p:sp>
        <p:nvSpPr>
          <p:cNvPr id="5" name="Text 3"/>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6"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Transparency and Accountability</a:t>
            </a:r>
            <a:endParaRPr lang="en-US" sz="2800" dirty="0"/>
          </a:p>
        </p:txBody>
      </p:sp>
      <p:sp>
        <p:nvSpPr>
          <p:cNvPr id="4" name="Text 2"/>
          <p:cNvSpPr/>
          <p:nvPr/>
        </p:nvSpPr>
        <p:spPr>
          <a:xfrm>
            <a:off x="640080" y="1234440"/>
            <a:ext cx="704088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Transparency means people affected by an algorithmic decision can find out that a model was involved and get a meaningful explanation of the factors behind it — not necessarily the full source code, but a real, usable explanation.</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New York City's Local Law 144, effective in 2023, is a real municipal ordinance requiring employers using automated hiring tools to conduct independent bias audits and publish the results — a concrete, checkable example of a transparency mechanism written into law.</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Accountability means there's a clear, named party responsible when an algorithmic tool causes harm — and a real process for someone to contest a decision, not just a generic feedback form.</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Recall the Dutch court's SyRI ruling (Classes 1-1 and 3-2): the court's central finding was as much about the lack of transparency and an accessible appeal path as it was about the underlying bias in the data.</a:t>
            </a:r>
            <a:endParaRPr lang="en-US" sz="1500" dirty="0"/>
          </a:p>
        </p:txBody>
      </p:sp>
      <p:sp>
        <p:nvSpPr>
          <p:cNvPr id="5" name="Shape 3"/>
          <p:cNvSpPr/>
          <p:nvPr/>
        </p:nvSpPr>
        <p:spPr>
          <a:xfrm>
            <a:off x="8001000" y="1234440"/>
            <a:ext cx="3566160" cy="2103120"/>
          </a:xfrm>
          <a:prstGeom prst="roundRect">
            <a:avLst>
              <a:gd name="adj" fmla="val 3478"/>
            </a:avLst>
          </a:prstGeom>
          <a:solidFill>
            <a:srgbClr val="EEF3F6"/>
          </a:solidFill>
          <a:ln/>
        </p:spPr>
      </p:sp>
      <p:sp>
        <p:nvSpPr>
          <p:cNvPr id="6" name="Text 4"/>
          <p:cNvSpPr/>
          <p:nvPr/>
        </p:nvSpPr>
        <p:spPr>
          <a:xfrm>
            <a:off x="8229600" y="1417320"/>
            <a:ext cx="3108960" cy="320040"/>
          </a:xfrm>
          <a:prstGeom prst="rect">
            <a:avLst/>
          </a:prstGeom>
          <a:noFill/>
          <a:ln/>
        </p:spPr>
        <p:txBody>
          <a:bodyPr wrap="square" lIns="0" tIns="0" rIns="0" bIns="0" rtlCol="0" anchor="ctr"/>
          <a:lstStyle/>
          <a:p>
            <a:pPr indent="0" marL="0">
              <a:buNone/>
            </a:pPr>
            <a:r>
              <a:rPr lang="en-US" sz="1100" b="1" spc="100" kern="0" dirty="0">
                <a:solidFill>
                  <a:srgbClr val="1E7A8C"/>
                </a:solidFill>
                <a:latin typeface="Calibri" pitchFamily="34" charset="0"/>
                <a:ea typeface="Calibri" pitchFamily="34" charset="-122"/>
                <a:cs typeface="Calibri" pitchFamily="34" charset="-120"/>
              </a:rPr>
              <a:t>REAL POLICY</a:t>
            </a:r>
            <a:endParaRPr lang="en-US" sz="1100" dirty="0"/>
          </a:p>
        </p:txBody>
      </p:sp>
      <p:sp>
        <p:nvSpPr>
          <p:cNvPr id="7" name="Text 5"/>
          <p:cNvSpPr/>
          <p:nvPr/>
        </p:nvSpPr>
        <p:spPr>
          <a:xfrm>
            <a:off x="8229600" y="1783080"/>
            <a:ext cx="3108960" cy="1508760"/>
          </a:xfrm>
          <a:prstGeom prst="rect">
            <a:avLst/>
          </a:prstGeom>
          <a:noFill/>
          <a:ln/>
        </p:spPr>
        <p:txBody>
          <a:bodyPr wrap="square" lIns="0" tIns="0" rIns="0" bIns="0" rtlCol="0" anchor="t"/>
          <a:lstStyle/>
          <a:p>
            <a:pPr indent="0" marL="0">
              <a:lnSpc>
                <a:spcPct val="115000"/>
              </a:lnSpc>
              <a:buNone/>
            </a:pPr>
            <a:r>
              <a:rPr lang="en-US" sz="1400" i="1" dirty="0">
                <a:solidFill>
                  <a:srgbClr val="132A4C"/>
                </a:solidFill>
                <a:latin typeface="Cambria" pitchFamily="34" charset="0"/>
                <a:ea typeface="Cambria" pitchFamily="34" charset="-122"/>
                <a:cs typeface="Cambria" pitchFamily="34" charset="-120"/>
              </a:rPr>
              <a:t>NYC Local Law 144 (2023): mandatory bias audits for automated hiring tools.</a:t>
            </a:r>
            <a:endParaRPr lang="en-US" sz="14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9"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Participation: Who's in the Room</a:t>
            </a:r>
            <a:endParaRPr lang="en-US" sz="2800" dirty="0"/>
          </a:p>
        </p:txBody>
      </p:sp>
      <p:sp>
        <p:nvSpPr>
          <p:cNvPr id="4" name="Text 2"/>
          <p:cNvSpPr/>
          <p:nvPr/>
        </p:nvSpPr>
        <p:spPr>
          <a:xfrm>
            <a:off x="640080" y="1234440"/>
            <a:ext cx="1051560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Participation means the communities affected by an Urban AI tool have a real opportunity to shape its design, criteria, and deployment decisions — not just receive the output after the fact.</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Recall Envision Utah from Class 2-2: its multi-year public scenario-planning process is a real example of participation built into the process itself, not added as an afterthought.</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Some cities have created standing oversight bodies specifically to review surveillance and algorithmic tools before deployment — for example, Oakland's Privacy Advisory Commission, a real municipal body that reviews proposed surveillance technology acquisitions and reports to the City Council.</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Participation is the lens most directly connected to your own Stakeholder Map deliverable from Meeting 5 — that document exists specifically to force this question early, before a tool or plan is finalized.</a:t>
            </a:r>
            <a:endParaRPr lang="en-US" sz="1500" dirty="0"/>
          </a:p>
        </p:txBody>
      </p:sp>
      <p:sp>
        <p:nvSpPr>
          <p:cNvPr id="5" name="Text 3"/>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6"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Worked Example: Auditing a Short AI-Generated Memo</a:t>
            </a:r>
            <a:endParaRPr lang="en-US" sz="2800" dirty="0"/>
          </a:p>
        </p:txBody>
      </p:sp>
      <p:sp>
        <p:nvSpPr>
          <p:cNvPr id="4" name="Shape 2"/>
          <p:cNvSpPr/>
          <p:nvPr/>
        </p:nvSpPr>
        <p:spPr>
          <a:xfrm>
            <a:off x="640080" y="1307592"/>
            <a:ext cx="402336" cy="402336"/>
          </a:xfrm>
          <a:prstGeom prst="ellipse">
            <a:avLst/>
          </a:prstGeom>
          <a:solidFill>
            <a:srgbClr val="132A4C"/>
          </a:solidFill>
          <a:ln/>
        </p:spPr>
      </p:sp>
      <p:sp>
        <p:nvSpPr>
          <p:cNvPr id="5" name="Text 3"/>
          <p:cNvSpPr/>
          <p:nvPr/>
        </p:nvSpPr>
        <p:spPr>
          <a:xfrm>
            <a:off x="640080" y="1307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34440" y="1280160"/>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Read a short (three-paragraph) AI-generated memo recommending a neighborhood for a new affordable-housing development, based on cost and available land.</a:t>
            </a:r>
            <a:endParaRPr lang="en-US" sz="1400" dirty="0"/>
          </a:p>
        </p:txBody>
      </p:sp>
      <p:sp>
        <p:nvSpPr>
          <p:cNvPr id="7" name="Shape 5"/>
          <p:cNvSpPr/>
          <p:nvPr/>
        </p:nvSpPr>
        <p:spPr>
          <a:xfrm>
            <a:off x="640080" y="2304288"/>
            <a:ext cx="402336" cy="402336"/>
          </a:xfrm>
          <a:prstGeom prst="ellipse">
            <a:avLst/>
          </a:prstGeom>
          <a:solidFill>
            <a:srgbClr val="132A4C"/>
          </a:solidFill>
          <a:ln/>
        </p:spPr>
      </p:sp>
      <p:sp>
        <p:nvSpPr>
          <p:cNvPr id="8" name="Text 6"/>
          <p:cNvSpPr/>
          <p:nvPr/>
        </p:nvSpPr>
        <p:spPr>
          <a:xfrm>
            <a:off x="640080" y="23042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234440" y="2276856"/>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Bias/equity check: does the memo's criteria set consider displacement risk or existing community composition, or only cost and land availability?</a:t>
            </a:r>
            <a:endParaRPr lang="en-US" sz="1400" dirty="0"/>
          </a:p>
        </p:txBody>
      </p:sp>
      <p:sp>
        <p:nvSpPr>
          <p:cNvPr id="10" name="Shape 8"/>
          <p:cNvSpPr/>
          <p:nvPr/>
        </p:nvSpPr>
        <p:spPr>
          <a:xfrm>
            <a:off x="640080" y="3300984"/>
            <a:ext cx="402336" cy="402336"/>
          </a:xfrm>
          <a:prstGeom prst="ellipse">
            <a:avLst/>
          </a:prstGeom>
          <a:solidFill>
            <a:srgbClr val="132A4C"/>
          </a:solidFill>
          <a:ln/>
        </p:spPr>
      </p:sp>
      <p:sp>
        <p:nvSpPr>
          <p:cNvPr id="11" name="Text 9"/>
          <p:cNvSpPr/>
          <p:nvPr/>
        </p:nvSpPr>
        <p:spPr>
          <a:xfrm>
            <a:off x="640080" y="3300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234440" y="3273552"/>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Privacy check: does the memo reference any specific individuals or sensitive personal circumstances that shouldn't appear in a public document?</a:t>
            </a:r>
            <a:endParaRPr lang="en-US" sz="1400" dirty="0"/>
          </a:p>
        </p:txBody>
      </p:sp>
      <p:sp>
        <p:nvSpPr>
          <p:cNvPr id="13" name="Shape 11"/>
          <p:cNvSpPr/>
          <p:nvPr/>
        </p:nvSpPr>
        <p:spPr>
          <a:xfrm>
            <a:off x="640080" y="4297680"/>
            <a:ext cx="402336" cy="402336"/>
          </a:xfrm>
          <a:prstGeom prst="ellipse">
            <a:avLst/>
          </a:prstGeom>
          <a:solidFill>
            <a:srgbClr val="132A4C"/>
          </a:solidFill>
          <a:ln/>
        </p:spPr>
      </p:sp>
      <p:sp>
        <p:nvSpPr>
          <p:cNvPr id="14" name="Text 12"/>
          <p:cNvSpPr/>
          <p:nvPr/>
        </p:nvSpPr>
        <p:spPr>
          <a:xfrm>
            <a:off x="640080" y="4297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234440" y="4270248"/>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Transparency check: does the memo state what data or sources its recommendation is based on, or does it just assert a conclusion?</a:t>
            </a:r>
            <a:endParaRPr lang="en-US" sz="1400" dirty="0"/>
          </a:p>
        </p:txBody>
      </p:sp>
      <p:sp>
        <p:nvSpPr>
          <p:cNvPr id="16" name="Shape 14"/>
          <p:cNvSpPr/>
          <p:nvPr/>
        </p:nvSpPr>
        <p:spPr>
          <a:xfrm>
            <a:off x="640080" y="5294376"/>
            <a:ext cx="402336" cy="402336"/>
          </a:xfrm>
          <a:prstGeom prst="ellipse">
            <a:avLst/>
          </a:prstGeom>
          <a:solidFill>
            <a:srgbClr val="132A4C"/>
          </a:solidFill>
          <a:ln/>
        </p:spPr>
      </p:sp>
      <p:sp>
        <p:nvSpPr>
          <p:cNvPr id="17" name="Text 15"/>
          <p:cNvSpPr/>
          <p:nvPr/>
        </p:nvSpPr>
        <p:spPr>
          <a:xfrm>
            <a:off x="640080" y="52943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234440" y="5266944"/>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Accountability and participation check: does the memo name who reviewed it and whether affected residents were consulted before it was finalized?</a:t>
            </a:r>
            <a:endParaRPr lang="en-US" sz="1400" dirty="0"/>
          </a:p>
        </p:txBody>
      </p:sp>
      <p:sp>
        <p:nvSpPr>
          <p:cNvPr id="19" name="Text 1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20" name="Text 1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Misconceptions</a:t>
            </a:r>
            <a:endParaRPr lang="en-US" sz="2800" dirty="0"/>
          </a:p>
        </p:txBody>
      </p:sp>
      <p:sp>
        <p:nvSpPr>
          <p:cNvPr id="4" name="Shape 2"/>
          <p:cNvSpPr/>
          <p:nvPr/>
        </p:nvSpPr>
        <p:spPr>
          <a:xfrm>
            <a:off x="640080" y="1188720"/>
            <a:ext cx="10881360" cy="4892040"/>
          </a:xfrm>
          <a:prstGeom prst="roundRect">
            <a:avLst>
              <a:gd name="adj" fmla="val 1308"/>
            </a:avLst>
          </a:prstGeom>
          <a:solidFill>
            <a:srgbClr val="FCEFDC"/>
          </a:solidFill>
          <a:ln/>
        </p:spPr>
      </p:sp>
      <p:sp>
        <p:nvSpPr>
          <p:cNvPr id="5" name="Text 3"/>
          <p:cNvSpPr/>
          <p:nvPr/>
        </p:nvSpPr>
        <p:spPr>
          <a:xfrm>
            <a:off x="1005840" y="1463040"/>
            <a:ext cx="10149840" cy="4389120"/>
          </a:xfrm>
          <a:prstGeom prst="rect">
            <a:avLst/>
          </a:prstGeom>
          <a:noFill/>
          <a:ln/>
        </p:spPr>
        <p:txBody>
          <a:bodyPr wrap="square" lIns="0" tIns="0" rIns="0" bIns="0" rtlCol="0" anchor="t"/>
          <a:lstStyle/>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“Removing race or income from the model's inputs removes bias” — as the redlining discussion showed, correlated proxy variables (like ZIP code or historical enforcement records) can reproduce the same bias indirectly.</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“Ethics review slows projects down for no real benefit” — the SyRI, Detroit facial-recognition, and MyCity chatbot cases across this course all show that skipping review created larger costs later, including legal, financial, and human ones.</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“A published ethics statement or AI policy is the same as actually following it” — a policy only functions if it's actually enforced and if someone is accountable for checking compliance, as NYC's Local Law 144 tries to ensure through mandatory audits.</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“Ethics is a final checklist you run at the end” — every case in this course shows ethics questions (who's affected, who's consulted, what's transparent) working best when raised at the start of a project, not bolted on afterward.</a:t>
            </a:r>
            <a:endParaRPr lang="en-US" sz="150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Frameworks, MSU Guidance, and Your Final Checklist</a:t>
            </a:r>
            <a:endParaRPr lang="en-US" sz="2800" dirty="0"/>
          </a:p>
        </p:txBody>
      </p:sp>
      <p:sp>
        <p:nvSpPr>
          <p:cNvPr id="4" name="Shape 2"/>
          <p:cNvSpPr/>
          <p:nvPr/>
        </p:nvSpPr>
        <p:spPr>
          <a:xfrm>
            <a:off x="640080" y="1188720"/>
            <a:ext cx="10881360" cy="4892040"/>
          </a:xfrm>
          <a:prstGeom prst="roundRect">
            <a:avLst>
              <a:gd name="adj" fmla="val 1308"/>
            </a:avLst>
          </a:prstGeom>
          <a:solidFill>
            <a:srgbClr val="FCEFDC"/>
          </a:solidFill>
          <a:ln/>
        </p:spPr>
      </p:sp>
      <p:sp>
        <p:nvSpPr>
          <p:cNvPr id="5" name="Text 3"/>
          <p:cNvSpPr/>
          <p:nvPr/>
        </p:nvSpPr>
        <p:spPr>
          <a:xfrm>
            <a:off x="1005840" y="1463040"/>
            <a:ext cx="10149840" cy="4389120"/>
          </a:xfrm>
          <a:prstGeom prst="rect">
            <a:avLst/>
          </a:prstGeom>
          <a:noFill/>
          <a:ln/>
        </p:spPr>
        <p:txBody>
          <a:bodyPr wrap="square" lIns="0" tIns="0" rIns="0" bIns="0" rtlCol="0" anchor="t"/>
          <a:lstStyle/>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This course's Responsible AI policy is your working framework: use only MSU-approved tools; keep the AI Use Log for every tool, date, prompt, and human edit; verify every claim against a named source; disclose AI use rather than concealing it — disclosure is never penalized, concealment is.</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Consult MSU's AI-Ready Initiative resources for the current MSU-approved generative AI tool list before your team finalizes its workflow — that list is maintained centrally and may change between cohorts.</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Before your team submits its Decision-Support Brief, walk through the six lenses from today one more time: bias, equity, privacy, transparency, accountability, participation — and make sure each has at least one concrete answer in your Brief, not just an acknowledgment that it matters.</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This is the last new content slide of the course — the breakout activity that follows is your team's chance to apply this checklist to a real draft before Meeting 8's final presentations.</a:t>
            </a:r>
            <a:endParaRPr lang="en-US" sz="150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BREAKOUT ACTIVITY</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Breakout: Responsible AI Audit of Your Own Draft</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Using the six-lens checklist (bias, equity, privacy, transparency, accountability, participation), audit a short AI-generated passage from your own team's project materials.</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Identify one required human edit before that passage could be included in your final Brief.</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Confirm every specific factual claim in the passage has a named, checkable source.</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Agree as a team on who is responsible for the AI Use Disclosure section of your Brief.</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UP NEXT</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Up Next: Final Team Presentations &amp; Course Reflection</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This is the final class of the course — no new lab follows; Meeting 8 closes with final team presentations and course reflection.</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Each team delivers a 5-minute presentation of its Urban AI Decision-Support Brief; the top five teams receive gift cards.</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Forum B ('Whose city does the model see?') launches today — post your reflection before the course closes.</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The Reflection block wraps the course: individual reflection plus the post-survey, due shortly after Meeting 8.</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DELIVERABLE DUE NEXT</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Deliverable Due Next: Individual Reflection + Post-Survey</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Individual deliverable, due shortly after Meeting 8 (the Reflection block).</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Complete your individual written reflection on the course, informed by Forum B's prompt.</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Complete the post-survey — this closes the loop with the AI-readiness pre-survey from Orientation.</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Completion requires attending at least 7 of 8 meetings, submitting all six deliverables, and maintaining your AI Use Log throughout.</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Ethics for Urban Decision-Making</dc:title>
  <dc:subject>PptxGenJS Presentation</dc:subject>
  <dc:creator>Urban AI · MSU AI-Ready Initiative</dc:creator>
  <cp:lastModifiedBy>Urban AI · MSU AI-Ready Initiative</cp:lastModifiedBy>
  <cp:revision>1</cp:revision>
  <dcterms:created xsi:type="dcterms:W3CDTF">2026-08-11T12:52:23Z</dcterms:created>
  <dcterms:modified xsi:type="dcterms:W3CDTF">2026-08-11T12:52:23Z</dcterms:modified>
</cp:coreProperties>
</file>