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recap-and-expand slide — most students saw the five category names briefly in Class 1-1. Make sure everyone can recite the five names before moving on, since the rest of the deck is organized around them one by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Foreshadow that the next slide's case (WindyGrid) belongs here — this reuses the Class 1-1 example from a new analytical angle (DSS category), reinforcing rather than repeating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saw this case in Class 1-1 — use that familiarity as a teaching advantage, framing this slide as 'same tool, new lens: which DSS category does it belong to and why.'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Explicitly connect back to Classes 2-1 and 2-2 — students already have two real model-driven DSS examples (UrbanSim, SLEUTH) from two classes ago, so this slide should feel like a label being applied to familiar material, not new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strong, high-stakes example to contrast with the smaller-scale examples elsewhere in the deck. If time allows, ask why extensive peer review might be easier to justify (in terms of cost) for a national flood-risk model than for a smaller city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category is often the least intuitive for students — spend a moment making sure the difference from 'model-driven' (a mathematical model) versus 'knowledge-driven' (an explicit rule base) is clear before the case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case sets up the deck's closing 'what could go wrong' slide directly — flag that connection explicitly for students so the closing slide doesn't feel disconnected.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callout box is the most important line on this slide for course continuity — make sure students register that RAG isn't a brand-new idea, it's an old DSS category getting an LLM front end. This will make Class 4-1 land faster.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scenario aloud and pause for a class guess before revealing the category — this works well as a rapid-fire call-and-response before the breakout activity, which repeats this exact exercise with new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deliberately closes the loop across all five categories — walk students back through the different 'silent failure' modes (data staleness, model-assumption drift, rule-base staleness) as a quick recap before the breakout activity.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2926080" cy="2926080"/>
          </a:xfrm>
          <a:prstGeom prst="ellipse">
            <a:avLst/>
          </a:prstGeom>
          <a:solidFill>
            <a:srgbClr val="0F3A63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5029200"/>
            <a:ext cx="1463040" cy="1463040"/>
          </a:xfrm>
          <a:prstGeom prst="ellipse">
            <a:avLst/>
          </a:prstGeom>
          <a:solidFill>
            <a:srgbClr val="1E7A8C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576072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3-1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Support Systems I: Categories &amp; Cases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AI: AI-Driven Decision Support for Real-World Urban Challenges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Jie Hou, Ph.D. &amp; Si Chen, Ph.D.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minutes (Class segment of Meeting 6)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MSU AI-Ready Initiative · Non-Credit Learning Experience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5840" y="3401568"/>
            <a:ext cx="10180015" cy="0"/>
          </a:xfrm>
          <a:prstGeom prst="line">
            <a:avLst/>
          </a:prstGeom>
          <a:noFill/>
          <a:ln w="25400">
            <a:solidFill>
              <a:srgbClr val="CCD6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" y="3209544"/>
            <a:ext cx="384048" cy="384048"/>
          </a:xfrm>
          <a:prstGeom prst="ellipse">
            <a:avLst/>
          </a:prstGeom>
          <a:solidFill>
            <a:srgbClr val="1E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68104" y="3209544"/>
            <a:ext cx="384048" cy="384048"/>
          </a:xfrm>
          <a:prstGeom prst="ellipse">
            <a:avLst/>
          </a:prstGeom>
          <a:solidFill>
            <a:srgbClr val="1E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11488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74328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Basics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22392" y="3209544"/>
            <a:ext cx="384048" cy="384048"/>
          </a:xfrm>
          <a:prstGeom prst="ellipse">
            <a:avLst/>
          </a:prstGeom>
          <a:solidFill>
            <a:srgbClr val="1E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5776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28616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176680" y="3209544"/>
            <a:ext cx="384048" cy="384048"/>
          </a:xfrm>
          <a:prstGeom prst="ellipse">
            <a:avLst/>
          </a:prstGeom>
          <a:solidFill>
            <a:srgbClr val="1E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0064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82904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39528" y="3118104"/>
            <a:ext cx="566928" cy="566928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7232" y="32644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74352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37192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Cases 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085255" y="3209544"/>
            <a:ext cx="384048" cy="384048"/>
          </a:xfrm>
          <a:prstGeom prst="ellipse">
            <a:avLst/>
          </a:prstGeom>
          <a:solidFill>
            <a:srgbClr val="B9C6D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8639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91479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Cases II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539543" y="3209544"/>
            <a:ext cx="384048" cy="384048"/>
          </a:xfrm>
          <a:prstGeom prst="ellipse">
            <a:avLst/>
          </a:prstGeom>
          <a:solidFill>
            <a:srgbClr val="B9C6D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2927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45767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DSS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993831" y="3209544"/>
            <a:ext cx="384048" cy="384048"/>
          </a:xfrm>
          <a:prstGeom prst="ellipse">
            <a:avLst/>
          </a:prstGeom>
          <a:solidFill>
            <a:srgbClr val="B9C6D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37215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00055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Ethics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05840" y="512064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class meetings build from foundational concepts to a team-built, human-reviewed Urban AI Decision-Support Brief. Today's class is highlighted in amber above.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class,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10149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the definition of a DSS and the origin of the five-category DSS typology used in this course.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88336"/>
            <a:ext cx="457200" cy="4572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642616"/>
            <a:ext cx="10149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data-driven, model-driven, and knowledge-driven DSSs with a real example of each.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639312"/>
            <a:ext cx="457200" cy="4572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3593592"/>
            <a:ext cx="10149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communication-driven and document-driven DSSs with a real example of each.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590288"/>
            <a:ext cx="457200" cy="4572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4544568"/>
            <a:ext cx="10149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 described urban scenario to the correct DSS category.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5541264"/>
            <a:ext cx="457200" cy="4572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541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5495544"/>
            <a:ext cx="10149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category boundaries can blur in practice and why that matters for evaluation.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DSS Recap and the Five-Category Typology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0408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from Class 1-1: a DSS is any tool that helps a decision-maker analyze information and compare alternatives, without making the final decision itself.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uses a five-category typology, drawn from Daniel Power's widely cited DSS classification framework, to organize the many forms a DSS can take: data-driven, model-driven, knowledge-driven, communication-driven, and document-driven.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categories describe what the DSS is primarily built around — a live data feed, a mathematical/simulation model, a set of expert rules, a collaboration channel, or a document repository.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tools often blend more than one category — the goal today is to learn to recognize the dominant pattern in a given tool, not to force every tool into exactly one box.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01000" y="12344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EF3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MAP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0" y="178308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· Model-driven · Knowledge-driven · Communication-driven · Document-driven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DSS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DSS is organized around accessing, integrating, and displaying large volumes of internal or external data — usually in near-real-time — to support monitoring and situational awareness.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comes from bringing together data that would otherwise be siloed across departments or systems, not from a predictive model.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outputs are dashboards, maps, and alerts rather than a single recommended action.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usually the simplest category to build and the hardest to build well, because most of the effort is in data integration and quality, not modeling.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32A4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Chicago WindyGrid — A Data-Driven DSS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Revisiting a system from Class 1-1: Chicago's WindyGrid dashboard integrates 311 requests, weather, traffic-camera, and incident feeds into one real-time situational view for city staff.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textbook data-driven DSS: its core value is data integration and visualization, not a predictive model or an expert rule engine.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Dispatchers and planners use it to spot emerging patterns (e.g., a cluster of related 311 complaints) faster than they could by checking separate systems.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illustrates the category's core tradeoff: highly useful for situational awareness, but it doesn't tell staff what to do about what they see — that judgment stays fully human.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863840" y="1737360"/>
            <a:ext cx="3703320" cy="3931920"/>
          </a:xfrm>
          <a:prstGeom prst="roundRect">
            <a:avLst>
              <a:gd name="adj" fmla="val 1975"/>
            </a:avLst>
          </a:prstGeom>
          <a:solidFill>
            <a:srgbClr val="FCEFDC"/>
          </a:solidFill>
          <a:ln/>
        </p:spPr>
      </p:sp>
      <p:sp>
        <p:nvSpPr>
          <p:cNvPr id="7" name="Text 5"/>
          <p:cNvSpPr/>
          <p:nvPr/>
        </p:nvSpPr>
        <p:spPr>
          <a:xfrm>
            <a:off x="809244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92440" y="2286000"/>
            <a:ext cx="3246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the same real system analyzed through a new lens (DSS category, not just 'Urban AI example') helps you build a durable mental model — the categories aren't abstract, they describe tools you already know.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Model-Driven DSS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model-driven DSS is organized around a simulation, optimization, or statistical model that generates projections or recommended alternatives, which a human then reviews.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optimization and simulation tools from Classes 2-1 and 2-2 — UrbanSim, SLEUTH, facility-location optimization — are all model-driven DSSs by this definition.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center of gravity is the model itself: its assumptions, calibration, and scenario logic determine what the DSS can and can't tell you.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Model-driven DSSs are especially prone to being treated as more certain than they are, because their outputs (numbers, maps) look precise even when the underlying assumptions are uncertain.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32A4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Netherlands' Delta Programme — A Model-Driven DSS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Netherlands' Delta Programme is a real, long-running national/regional flood-risk management effort that relies heavily on hydraulic and economic models (including the Dutch Delta Model) to evaluate flood-defense investment options.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roughly a third of the Netherlands sits below sea level, flood-risk model outputs directly shape decisions about dikes, storm barriers, and water-management infrastructure that affect millions of residents.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model-driven in the clearest sense: the entire decision process is structured around comparing model-projected outcomes of different infrastructure investment scenarios.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also a strong example of governance discipline — because the stakes of a wrong model assumption are so high, the Dutch process includes extensive peer review and periodic model updates.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863840" y="1737360"/>
            <a:ext cx="3703320" cy="3931920"/>
          </a:xfrm>
          <a:prstGeom prst="roundRect">
            <a:avLst>
              <a:gd name="adj" fmla="val 1975"/>
            </a:avLst>
          </a:prstGeom>
          <a:solidFill>
            <a:srgbClr val="FCEFDC"/>
          </a:solidFill>
          <a:ln/>
        </p:spPr>
      </p:sp>
      <p:sp>
        <p:nvSpPr>
          <p:cNvPr id="7" name="Text 5"/>
          <p:cNvSpPr/>
          <p:nvPr/>
        </p:nvSpPr>
        <p:spPr>
          <a:xfrm>
            <a:off x="809244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92440" y="2286000"/>
            <a:ext cx="3246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Delta Programme shows a model-driven DSS operating at the highest possible stakes — literally protecting a nation from flooding — which makes its emphasis on transparent assumptions and periodic review a standard worth aspiring to, not a nice-to-have.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Knowledge-Driven DSS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knowledge-driven DSS encodes expert rules, regulations, or professional know-how — often as an if-this-then-that rule engine — to check compliance or recommend actions based on codified expertise.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examples: automated building-code compliance checkers, zoning-eligibility calculators, and expert-system style permitting tools.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center of gravity is the rule base itself — its accuracy depends entirely on the rules being current and complete, unlike a data-driven DSS whose accuracy depends on data freshness.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Knowledge-driven DSSs are often the least visible category to residents, because they usually operate behind the scenes in permitting and code-review workflows.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32A4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Singapore's CORENET — A Knowledge-Driven DSS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Singapore's Building and Construction Authority developed CORENET (and its modernized successor, CORENET X) as an automated code-checking and e-submission system that reviews building plans against Singapore's building codes electronically.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clear knowledge-driven DSS: the system's core is a codified rule base representing building regulations, which automatically flags plan elements that don't comply before a human reviewer even looks at the submission.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has continued to invest in and expand this system for decades, reflecting how much time it saves both applicants and government reviewers on routine compliance checks.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tradeoff is real: a knowledge-driven DSS is only as good as its rule base, so it needs a defined process for updating rules whenever the underlying code changes — the exact issue flagged in this deck's closing 'what could go wrong' slide.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863840" y="1737360"/>
            <a:ext cx="3703320" cy="3931920"/>
          </a:xfrm>
          <a:prstGeom prst="roundRect">
            <a:avLst>
              <a:gd name="adj" fmla="val 1975"/>
            </a:avLst>
          </a:prstGeom>
          <a:solidFill>
            <a:srgbClr val="FCEFDC"/>
          </a:solidFill>
          <a:ln/>
        </p:spPr>
      </p:sp>
      <p:sp>
        <p:nvSpPr>
          <p:cNvPr id="7" name="Text 5"/>
          <p:cNvSpPr/>
          <p:nvPr/>
        </p:nvSpPr>
        <p:spPr>
          <a:xfrm>
            <a:off x="809244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92440" y="2286000"/>
            <a:ext cx="3246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CORENET shows a knowledge-driven DSS succeeding at scale over a long period precisely because Singapore invested in keeping its rule base current — a maintenance commitment easy to underestimate when first building a knowledge-driven tool.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Communication-Driven and Document-Driven DSS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0408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communication-driven DSS is built around enabling collaboration among multiple decision-makers or the public — shared GIS platforms, public-comment map tools, and virtual town-hall software used for participatory planning fall here.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document-driven DSS is built around organizing and retrieving unstructured documents — searchable repositories of comprehensive plans, environmental impact statements, or meeting minutes that support decisions by making past documentation findable.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categories are easy to overlook because they don't produce a number or a map — their value is process quality (better collaboration) or institutional memory (better retrieval), not prediction.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Document-driven DSSs are the direct ancestor of the retrieval-augmented (RAG) LLM tools you'll study in Class 4-1 — the idea of grounding answers in a specific, searchable document set is decades older than LLMs.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01000" y="12344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EF3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0" y="178308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Document-driven DSS + LLM = the retrieval-augmented generation (RAG) pattern in Class 4-1.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Match the Scenario to the Category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402336" cy="402336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07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80160"/>
            <a:ext cx="102412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1: 'A city wants a live map showing current flood-sensor readings across all neighborhoods.' → Data-driven (real-time data integration and display, no predictive model).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04288"/>
            <a:ext cx="402336" cy="402336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276856"/>
            <a:ext cx="102412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2: 'Planners want to compare three future land-use patterns' economic and environmental outcomes over 20 years.' → Model-driven (simulation/projection is the core).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00984"/>
            <a:ext cx="402336" cy="402336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00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273552"/>
            <a:ext cx="102412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3: 'Staff want software that automatically checks whether a submitted site plan meets current zoning setback rules.' → Knowledge-driven (codified rule base).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402336" cy="402336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270248"/>
            <a:ext cx="102412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4: 'Residents want an online map where they can comment on proposed bike-lane locations and see others' comments.' → Communication-driven (collaboration is the core function).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294376"/>
            <a:ext cx="402336" cy="402336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294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5266944"/>
            <a:ext cx="102412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5: 'Staff want to quickly search 15 years of past comprehensive plans for how a similar rezoning was handled before.' → Document-driven (retrieval from an unstructured archive).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11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Go Wrong: A Rule Base That Falls Out of Date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881360" cy="4892040"/>
          </a:xfrm>
          <a:prstGeom prst="roundRect">
            <a:avLst>
              <a:gd name="adj" fmla="val 1308"/>
            </a:avLst>
          </a:prstGeom>
          <a:solidFill>
            <a:srgbClr val="FCEFD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10149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knowledge-driven DSS like a zoning-code compliance checker is only accurate if its encoded rules are updated every time the actual code changes — and code changes happen regularly as councils amend zoning ordinances.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rule base lags behind a real code amendment, the DSS can approve a plan that's actually non-compliant, or reject one that's actually fine — and because the tool looks authoritative, staff may trust its answer without double-checking the current code text.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governance failure mode distinct from the data-freshness problem in data-driven DSSs (like WindyGrid) or the assumption-uncertainty problem in model-driven DSSs (like the Delta Programme) — each DSS category has its own characteristic way of silently going stale.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■"/>
            </a:pPr>
            <a:r>
              <a:rPr lang="en-US" sz="1500" dirty="0">
                <a:solidFill>
                  <a:srgbClr val="5A3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safeguard is the same idea running through this whole course: name an owner responsible for updating the rule base on a defined schedule, and never let a DSS output stand in for checking the primary source when stakes are high.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731520"/>
            <a:ext cx="2743200" cy="2743200"/>
          </a:xfrm>
          <a:prstGeom prst="ellipse">
            <a:avLst/>
          </a:prstGeom>
          <a:solidFill>
            <a:srgbClr val="0F3A6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ACTIVITY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Breakout: Match the DSS Category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 will hand each team four new scenario cards, similar in style to today's worked example.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card, identify the primary DSS category (data/model/knowledge/communication/document-driven).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one match in writing: what specific detail in the scenario pointed you to that category?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one card your team disagreed about internally, and be ready to explain why it was ambiguous.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731520"/>
            <a:ext cx="2743200" cy="2743200"/>
          </a:xfrm>
          <a:prstGeom prst="ellipse">
            <a:avLst/>
          </a:prstGeom>
          <a:solidFill>
            <a:srgbClr val="0F3A6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Next: Lab 5 — Risk-Response DSS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 runs immediately after this class, in the same Meeting 6 session.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(no code): fill a weighted decision matrix in a spreadsheet template for flood and heat risk criteria.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(Colab): weighted-sum scoring plus a sensitivity sweep on the same flood/heat exposure criteria.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Artifact: ranked alternatives plus a sensitivity chart — this is your model-driven DSS, built by hand.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731520"/>
            <a:ext cx="2743200" cy="2743200"/>
          </a:xfrm>
          <a:prstGeom prst="ellipse">
            <a:avLst/>
          </a:prstGeom>
          <a:solidFill>
            <a:srgbClr val="0F3A6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DUE NEXT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Due Next: AI/DSS Process Log (in progress)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deliverable, building toward completion later in S3.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logging which DSS category best describes each tool your team is using for its project.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what data, model, or rule base each tool relies on, and who on your team is reviewing its outputs.</a:t>
            </a:r>
            <a:endParaRPr lang="en-US" sz="15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log feeds directly into your Scenario Comparison Matrix, due after Lab 6.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AI · MSU AI-Ready Initiative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Support Systems I: Categories &amp; Cases</dc:title>
  <dc:subject>PptxGenJS Presentation</dc:subject>
  <dc:creator>Urban AI · MSU AI-Ready Initiative</dc:creator>
  <cp:lastModifiedBy>Urban AI · MSU AI-Ready Initiative</cp:lastModifiedBy>
  <cp:revision>1</cp:revision>
  <dcterms:created xsi:type="dcterms:W3CDTF">2026-08-11T12:52:23Z</dcterms:created>
  <dcterms:modified xsi:type="dcterms:W3CDTF">2026-08-11T12:52:23Z</dcterms:modified>
</cp:coreProperties>
</file>