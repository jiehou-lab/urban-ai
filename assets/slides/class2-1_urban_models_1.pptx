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foundational vocabulary slide — keep it brief. Make sure students can name at least three site-analysis factors before moving to suitability analysis, since the worked example later depends on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McHarg's Design with Nature is a real, foundational, checkable reference — worth naming explicitly so students see this isn't a recent AI-era invention. The digital GIS overlay is a direct, literal translation of the analog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clearly from the previous slide: suitability = scoring the present, simulation = projecting change over time. The callout box phrase is worth repeating verbally — it directly sets up the misconceptions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are unfamiliar with regional planning bodies like MPOs (Metropolitan Planning Organizations), briefly explain that PSRC is exactly that kind of body — this context matters for why long time horizons are appropriate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SLEUTH's simplicity with UrbanSim's richer economic behavior model — both are legitimate but answer different questions. Good moment to ask which of the two a smaller under-resourced city could more realistically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intentionally simple and hand-workable — no software needed. The punchline is the last step: emphasize that the overlay narrows options, but a human still has to decide which criterion matters most, which previews the misconceptions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pivot from 'how these tools work' to 'why you must scrutinize them' — set up the misconceptions and what-could-go-wrong slides that follow. Ask: who in a real planning department should be responsible for documenting these weight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connect each misconception back to the worked example — e.g., which misconception did the community-garden example directly contradict? This is a good discussion prompt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extensively documented urban-planning history (not an AI failure specifically) — it's included because it's the clearest illustration of how 'neutral-looking' site criteria produced deeply inequitable outcomes, a risk that transfers directly to modern automated suitability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9692640" y="4206240"/>
            <a:ext cx="2926080" cy="2926080"/>
          </a:xfrm>
          <a:prstGeom prst="ellipse">
            <a:avLst/>
          </a:prstGeom>
          <a:solidFill>
            <a:srgbClr val="0F3A63"/>
          </a:solidFill>
          <a:ln/>
        </p:spPr>
      </p:sp>
      <p:sp>
        <p:nvSpPr>
          <p:cNvPr id="3" name="Shape 1"/>
          <p:cNvSpPr/>
          <p:nvPr/>
        </p:nvSpPr>
        <p:spPr>
          <a:xfrm>
            <a:off x="10515600" y="5029200"/>
            <a:ext cx="1463040" cy="1463040"/>
          </a:xfrm>
          <a:prstGeom prst="ellipse">
            <a:avLst/>
          </a:prstGeom>
          <a:solidFill>
            <a:srgbClr val="1E7A8C">
              <a:alpha val="75000"/>
            </a:srgbClr>
          </a:solidFill>
          <a:ln/>
        </p:spPr>
      </p:sp>
      <p:sp>
        <p:nvSpPr>
          <p:cNvPr id="4" name="Shape 2"/>
          <p:cNvSpPr/>
          <p:nvPr/>
        </p:nvSpPr>
        <p:spPr>
          <a:xfrm>
            <a:off x="11247120" y="5760720"/>
            <a:ext cx="640080" cy="640080"/>
          </a:xfrm>
          <a:prstGeom prst="ellipse">
            <a:avLst/>
          </a:prstGeom>
          <a:solidFill>
            <a:srgbClr val="E8A33D"/>
          </a:solidFill>
          <a:ln/>
        </p:spPr>
      </p:sp>
      <p:sp>
        <p:nvSpPr>
          <p:cNvPr id="5" name="Text 3"/>
          <p:cNvSpPr/>
          <p:nvPr/>
        </p:nvSpPr>
        <p:spPr>
          <a:xfrm>
            <a:off x="640080" y="1005840"/>
            <a:ext cx="5486400" cy="45720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CLASS 2-1</a:t>
            </a:r>
            <a:endParaRPr lang="en-US" sz="1600" dirty="0"/>
          </a:p>
        </p:txBody>
      </p:sp>
      <p:sp>
        <p:nvSpPr>
          <p:cNvPr id="6" name="Text 4"/>
          <p:cNvSpPr/>
          <p:nvPr/>
        </p:nvSpPr>
        <p:spPr>
          <a:xfrm>
            <a:off x="640080" y="1508760"/>
            <a:ext cx="9601200" cy="18288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Urban Analytic Models I: Site Analysis &amp; Simulation</a:t>
            </a:r>
            <a:endParaRPr lang="en-US" sz="3800" dirty="0"/>
          </a:p>
        </p:txBody>
      </p:sp>
      <p:sp>
        <p:nvSpPr>
          <p:cNvPr id="7" name="Text 5"/>
          <p:cNvSpPr/>
          <p:nvPr/>
        </p:nvSpPr>
        <p:spPr>
          <a:xfrm>
            <a:off x="640080" y="3246120"/>
            <a:ext cx="86868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Urban AI: AI-Driven Decision Support for Real-World Urban Challenges</a:t>
            </a:r>
            <a:endParaRPr lang="en-US" sz="1500" dirty="0"/>
          </a:p>
        </p:txBody>
      </p:sp>
      <p:sp>
        <p:nvSpPr>
          <p:cNvPr id="8" name="Text 6"/>
          <p:cNvSpPr/>
          <p:nvPr/>
        </p:nvSpPr>
        <p:spPr>
          <a:xfrm>
            <a:off x="640080" y="3931920"/>
            <a:ext cx="7315200" cy="914400"/>
          </a:xfrm>
          <a:prstGeom prst="rect">
            <a:avLst/>
          </a:prstGeom>
          <a:noFill/>
          <a:ln/>
        </p:spPr>
        <p:txBody>
          <a:bodyPr wrap="square" lIns="0" tIns="0" rIns="0" bIns="0" rtlCol="0" anchor="ctr"/>
          <a:lstStyle/>
          <a:p>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Instructor: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Si Chen, Ph.D.
</a:t>
            </a:r>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Duration: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60 minutes (Class segment of Meeting 3)</a:t>
            </a:r>
            <a:endParaRPr lang="en-US" sz="1400" dirty="0"/>
          </a:p>
        </p:txBody>
      </p:sp>
      <p:sp>
        <p:nvSpPr>
          <p:cNvPr id="9" name="Text 7"/>
          <p:cNvSpPr/>
          <p:nvPr/>
        </p:nvSpPr>
        <p:spPr>
          <a:xfrm>
            <a:off x="640080" y="6035040"/>
            <a:ext cx="7315200" cy="365760"/>
          </a:xfrm>
          <a:prstGeom prst="rect">
            <a:avLst/>
          </a:prstGeom>
          <a:noFill/>
          <a:ln/>
        </p:spPr>
        <p:txBody>
          <a:bodyPr wrap="square" lIns="0" tIns="0" rIns="0" bIns="0" rtlCol="0" anchor="ctr"/>
          <a:lstStyle/>
          <a:p>
            <a:pPr indent="0" marL="0">
              <a:buNone/>
            </a:pPr>
            <a:r>
              <a:rPr lang="en-US" sz="1100" dirty="0">
                <a:solidFill>
                  <a:srgbClr val="8FA6C2"/>
                </a:solidFill>
                <a:latin typeface="Calibri" pitchFamily="34" charset="0"/>
                <a:ea typeface="Calibri" pitchFamily="34" charset="-122"/>
                <a:cs typeface="Calibri" pitchFamily="34" charset="-120"/>
              </a:rPr>
              <a:t>MSU AI-Ready Initiative · Non-Credit Learning Experience</a:t>
            </a:r>
            <a:endParaRPr lang="en-US" sz="11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Where We Are</a:t>
            </a:r>
            <a:endParaRPr lang="en-US" sz="2800" dirty="0"/>
          </a:p>
        </p:txBody>
      </p:sp>
      <p:sp>
        <p:nvSpPr>
          <p:cNvPr id="4" name="Shape 2"/>
          <p:cNvSpPr/>
          <p:nvPr/>
        </p:nvSpPr>
        <p:spPr>
          <a:xfrm>
            <a:off x="1005840" y="3401568"/>
            <a:ext cx="10180015" cy="0"/>
          </a:xfrm>
          <a:prstGeom prst="line">
            <a:avLst/>
          </a:prstGeom>
          <a:noFill/>
          <a:ln w="25400">
            <a:solidFill>
              <a:srgbClr val="CCD6DE"/>
            </a:solidFill>
            <a:prstDash val="solid"/>
          </a:ln>
        </p:spPr>
      </p:sp>
      <p:sp>
        <p:nvSpPr>
          <p:cNvPr id="5" name="Shape 3"/>
          <p:cNvSpPr/>
          <p:nvPr/>
        </p:nvSpPr>
        <p:spPr>
          <a:xfrm>
            <a:off x="813816" y="3209544"/>
            <a:ext cx="384048" cy="384048"/>
          </a:xfrm>
          <a:prstGeom prst="ellipse">
            <a:avLst/>
          </a:prstGeom>
          <a:solidFill>
            <a:srgbClr val="1E7A8C"/>
          </a:solidFill>
          <a:ln w="12700">
            <a:solidFill>
              <a:srgbClr val="FFFFFF"/>
            </a:solidFill>
            <a:prstDash val="solid"/>
          </a:ln>
        </p:spPr>
      </p:sp>
      <p:sp>
        <p:nvSpPr>
          <p:cNvPr id="6" name="Text 4"/>
          <p:cNvSpPr/>
          <p:nvPr/>
        </p:nvSpPr>
        <p:spPr>
          <a:xfrm>
            <a:off x="457200"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1-1</a:t>
            </a:r>
            <a:endParaRPr lang="en-US" sz="1100" dirty="0"/>
          </a:p>
        </p:txBody>
      </p:sp>
      <p:sp>
        <p:nvSpPr>
          <p:cNvPr id="7" name="Text 5"/>
          <p:cNvSpPr/>
          <p:nvPr/>
        </p:nvSpPr>
        <p:spPr>
          <a:xfrm>
            <a:off x="320040"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Urban AI</a:t>
            </a:r>
            <a:endParaRPr lang="en-US" sz="950" dirty="0"/>
          </a:p>
        </p:txBody>
      </p:sp>
      <p:sp>
        <p:nvSpPr>
          <p:cNvPr id="8" name="Shape 6"/>
          <p:cNvSpPr/>
          <p:nvPr/>
        </p:nvSpPr>
        <p:spPr>
          <a:xfrm>
            <a:off x="2268104" y="3209544"/>
            <a:ext cx="384048" cy="384048"/>
          </a:xfrm>
          <a:prstGeom prst="ellipse">
            <a:avLst/>
          </a:prstGeom>
          <a:solidFill>
            <a:srgbClr val="1E7A8C"/>
          </a:solidFill>
          <a:ln w="12700">
            <a:solidFill>
              <a:srgbClr val="FFFFFF"/>
            </a:solidFill>
            <a:prstDash val="solid"/>
          </a:ln>
        </p:spPr>
      </p:sp>
      <p:sp>
        <p:nvSpPr>
          <p:cNvPr id="9" name="Text 7"/>
          <p:cNvSpPr/>
          <p:nvPr/>
        </p:nvSpPr>
        <p:spPr>
          <a:xfrm>
            <a:off x="1911488"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1-2</a:t>
            </a:r>
            <a:endParaRPr lang="en-US" sz="1100" dirty="0"/>
          </a:p>
        </p:txBody>
      </p:sp>
      <p:sp>
        <p:nvSpPr>
          <p:cNvPr id="10" name="Text 8"/>
          <p:cNvSpPr/>
          <p:nvPr/>
        </p:nvSpPr>
        <p:spPr>
          <a:xfrm>
            <a:off x="1774328"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Basics</a:t>
            </a:r>
            <a:endParaRPr lang="en-US" sz="950" dirty="0"/>
          </a:p>
        </p:txBody>
      </p:sp>
      <p:sp>
        <p:nvSpPr>
          <p:cNvPr id="11" name="Shape 9"/>
          <p:cNvSpPr/>
          <p:nvPr/>
        </p:nvSpPr>
        <p:spPr>
          <a:xfrm>
            <a:off x="3630952" y="3118104"/>
            <a:ext cx="566928" cy="566928"/>
          </a:xfrm>
          <a:prstGeom prst="ellipse">
            <a:avLst/>
          </a:prstGeom>
          <a:solidFill>
            <a:srgbClr val="E8A33D"/>
          </a:solidFill>
          <a:ln w="25400">
            <a:solidFill>
              <a:srgbClr val="FFFFFF"/>
            </a:solidFill>
            <a:prstDash val="solid"/>
          </a:ln>
        </p:spPr>
      </p:sp>
      <p:sp>
        <p:nvSpPr>
          <p:cNvPr id="12" name="Text 10"/>
          <p:cNvSpPr/>
          <p:nvPr/>
        </p:nvSpPr>
        <p:spPr>
          <a:xfrm>
            <a:off x="3548656" y="3264408"/>
            <a:ext cx="731520" cy="320040"/>
          </a:xfrm>
          <a:prstGeom prst="rect">
            <a:avLst/>
          </a:prstGeom>
          <a:noFill/>
          <a:ln/>
        </p:spPr>
        <p:txBody>
          <a:bodyPr wrap="square" lIns="0" tIns="0" rIns="0" bIns="0" rtlCol="0" anchor="ctr"/>
          <a:lstStyle/>
          <a:p>
            <a:pPr algn="ctr" indent="0" marL="0">
              <a:buNone/>
            </a:pPr>
            <a:r>
              <a:rPr lang="en-US" sz="1200" b="1" dirty="0">
                <a:solidFill>
                  <a:srgbClr val="132A4C"/>
                </a:solidFill>
                <a:latin typeface="Calibri" pitchFamily="34" charset="0"/>
                <a:ea typeface="Calibri" pitchFamily="34" charset="-122"/>
                <a:cs typeface="Calibri" pitchFamily="34" charset="-120"/>
              </a:rPr>
              <a:t>2-1</a:t>
            </a:r>
            <a:endParaRPr lang="en-US" sz="1200" dirty="0"/>
          </a:p>
        </p:txBody>
      </p:sp>
      <p:sp>
        <p:nvSpPr>
          <p:cNvPr id="13" name="Text 11"/>
          <p:cNvSpPr/>
          <p:nvPr/>
        </p:nvSpPr>
        <p:spPr>
          <a:xfrm>
            <a:off x="3365776" y="3794760"/>
            <a:ext cx="1097280" cy="274320"/>
          </a:xfrm>
          <a:prstGeom prst="rect">
            <a:avLst/>
          </a:prstGeom>
          <a:noFill/>
          <a:ln/>
        </p:spPr>
        <p:txBody>
          <a:bodyPr wrap="square" lIns="0" tIns="0" rIns="0" bIns="0" rtlCol="0" anchor="ctr"/>
          <a:lstStyle/>
          <a:p>
            <a:pPr algn="ctr" indent="0" marL="0">
              <a:buNone/>
            </a:pPr>
            <a:r>
              <a:rPr lang="en-US" sz="1100" b="1" dirty="0">
                <a:solidFill>
                  <a:srgbClr val="132A4C"/>
                </a:solidFill>
                <a:latin typeface="Calibri" pitchFamily="34" charset="0"/>
                <a:ea typeface="Calibri" pitchFamily="34" charset="-122"/>
                <a:cs typeface="Calibri" pitchFamily="34" charset="-120"/>
              </a:rPr>
              <a:t>2-1</a:t>
            </a:r>
            <a:endParaRPr lang="en-US" sz="1100" dirty="0"/>
          </a:p>
        </p:txBody>
      </p:sp>
      <p:sp>
        <p:nvSpPr>
          <p:cNvPr id="14" name="Text 12"/>
          <p:cNvSpPr/>
          <p:nvPr/>
        </p:nvSpPr>
        <p:spPr>
          <a:xfrm>
            <a:off x="3228616" y="4069080"/>
            <a:ext cx="1371600" cy="457200"/>
          </a:xfrm>
          <a:prstGeom prst="rect">
            <a:avLst/>
          </a:prstGeom>
          <a:noFill/>
          <a:ln/>
        </p:spPr>
        <p:txBody>
          <a:bodyPr wrap="square" lIns="0" tIns="0" rIns="0" bIns="0" rtlCol="0" anchor="ctr"/>
          <a:lstStyle/>
          <a:p>
            <a:pPr algn="ctr" indent="0" marL="0">
              <a:buNone/>
            </a:pPr>
            <a:r>
              <a:rPr lang="en-US" sz="950" dirty="0">
                <a:solidFill>
                  <a:srgbClr val="1B2A3D"/>
                </a:solidFill>
                <a:latin typeface="Calibri" pitchFamily="34" charset="0"/>
                <a:ea typeface="Calibri" pitchFamily="34" charset="-122"/>
                <a:cs typeface="Calibri" pitchFamily="34" charset="-120"/>
              </a:rPr>
              <a:t>Models I</a:t>
            </a:r>
            <a:endParaRPr lang="en-US" sz="950" dirty="0"/>
          </a:p>
        </p:txBody>
      </p:sp>
      <p:sp>
        <p:nvSpPr>
          <p:cNvPr id="15" name="Shape 13"/>
          <p:cNvSpPr/>
          <p:nvPr/>
        </p:nvSpPr>
        <p:spPr>
          <a:xfrm>
            <a:off x="5176680" y="3209544"/>
            <a:ext cx="384048" cy="384048"/>
          </a:xfrm>
          <a:prstGeom prst="ellipse">
            <a:avLst/>
          </a:prstGeom>
          <a:solidFill>
            <a:srgbClr val="B9C6D1"/>
          </a:solidFill>
          <a:ln w="12700">
            <a:solidFill>
              <a:srgbClr val="FFFFFF"/>
            </a:solidFill>
            <a:prstDash val="solid"/>
          </a:ln>
        </p:spPr>
      </p:sp>
      <p:sp>
        <p:nvSpPr>
          <p:cNvPr id="16" name="Text 14"/>
          <p:cNvSpPr/>
          <p:nvPr/>
        </p:nvSpPr>
        <p:spPr>
          <a:xfrm>
            <a:off x="4820064"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2-2</a:t>
            </a:r>
            <a:endParaRPr lang="en-US" sz="1100" dirty="0"/>
          </a:p>
        </p:txBody>
      </p:sp>
      <p:sp>
        <p:nvSpPr>
          <p:cNvPr id="17" name="Text 15"/>
          <p:cNvSpPr/>
          <p:nvPr/>
        </p:nvSpPr>
        <p:spPr>
          <a:xfrm>
            <a:off x="4682904"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II</a:t>
            </a:r>
            <a:endParaRPr lang="en-US" sz="950" dirty="0"/>
          </a:p>
        </p:txBody>
      </p:sp>
      <p:sp>
        <p:nvSpPr>
          <p:cNvPr id="18" name="Shape 16"/>
          <p:cNvSpPr/>
          <p:nvPr/>
        </p:nvSpPr>
        <p:spPr>
          <a:xfrm>
            <a:off x="6630968" y="3209544"/>
            <a:ext cx="384048" cy="384048"/>
          </a:xfrm>
          <a:prstGeom prst="ellipse">
            <a:avLst/>
          </a:prstGeom>
          <a:solidFill>
            <a:srgbClr val="B9C6D1"/>
          </a:solidFill>
          <a:ln w="12700">
            <a:solidFill>
              <a:srgbClr val="FFFFFF"/>
            </a:solidFill>
            <a:prstDash val="solid"/>
          </a:ln>
        </p:spPr>
      </p:sp>
      <p:sp>
        <p:nvSpPr>
          <p:cNvPr id="19" name="Text 17"/>
          <p:cNvSpPr/>
          <p:nvPr/>
        </p:nvSpPr>
        <p:spPr>
          <a:xfrm>
            <a:off x="6274352"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3-1</a:t>
            </a:r>
            <a:endParaRPr lang="en-US" sz="1100" dirty="0"/>
          </a:p>
        </p:txBody>
      </p:sp>
      <p:sp>
        <p:nvSpPr>
          <p:cNvPr id="20" name="Text 18"/>
          <p:cNvSpPr/>
          <p:nvPr/>
        </p:nvSpPr>
        <p:spPr>
          <a:xfrm>
            <a:off x="6137192"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a:t>
            </a:r>
            <a:endParaRPr lang="en-US" sz="950" dirty="0"/>
          </a:p>
        </p:txBody>
      </p:sp>
      <p:sp>
        <p:nvSpPr>
          <p:cNvPr id="21" name="Shape 19"/>
          <p:cNvSpPr/>
          <p:nvPr/>
        </p:nvSpPr>
        <p:spPr>
          <a:xfrm>
            <a:off x="8085255" y="3209544"/>
            <a:ext cx="384048" cy="384048"/>
          </a:xfrm>
          <a:prstGeom prst="ellipse">
            <a:avLst/>
          </a:prstGeom>
          <a:solidFill>
            <a:srgbClr val="B9C6D1"/>
          </a:solidFill>
          <a:ln w="12700">
            <a:solidFill>
              <a:srgbClr val="FFFFFF"/>
            </a:solidFill>
            <a:prstDash val="solid"/>
          </a:ln>
        </p:spPr>
      </p:sp>
      <p:sp>
        <p:nvSpPr>
          <p:cNvPr id="22" name="Text 20"/>
          <p:cNvSpPr/>
          <p:nvPr/>
        </p:nvSpPr>
        <p:spPr>
          <a:xfrm>
            <a:off x="7728639"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3-2</a:t>
            </a:r>
            <a:endParaRPr lang="en-US" sz="1100" dirty="0"/>
          </a:p>
        </p:txBody>
      </p:sp>
      <p:sp>
        <p:nvSpPr>
          <p:cNvPr id="23" name="Text 21"/>
          <p:cNvSpPr/>
          <p:nvPr/>
        </p:nvSpPr>
        <p:spPr>
          <a:xfrm>
            <a:off x="7591479"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II</a:t>
            </a:r>
            <a:endParaRPr lang="en-US" sz="950" dirty="0"/>
          </a:p>
        </p:txBody>
      </p:sp>
      <p:sp>
        <p:nvSpPr>
          <p:cNvPr id="24" name="Shape 22"/>
          <p:cNvSpPr/>
          <p:nvPr/>
        </p:nvSpPr>
        <p:spPr>
          <a:xfrm>
            <a:off x="9539543" y="3209544"/>
            <a:ext cx="384048" cy="384048"/>
          </a:xfrm>
          <a:prstGeom prst="ellipse">
            <a:avLst/>
          </a:prstGeom>
          <a:solidFill>
            <a:srgbClr val="B9C6D1"/>
          </a:solidFill>
          <a:ln w="12700">
            <a:solidFill>
              <a:srgbClr val="FFFFFF"/>
            </a:solidFill>
            <a:prstDash val="solid"/>
          </a:ln>
        </p:spPr>
      </p:sp>
      <p:sp>
        <p:nvSpPr>
          <p:cNvPr id="25" name="Text 23"/>
          <p:cNvSpPr/>
          <p:nvPr/>
        </p:nvSpPr>
        <p:spPr>
          <a:xfrm>
            <a:off x="9182927"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4-1</a:t>
            </a:r>
            <a:endParaRPr lang="en-US" sz="1100" dirty="0"/>
          </a:p>
        </p:txBody>
      </p:sp>
      <p:sp>
        <p:nvSpPr>
          <p:cNvPr id="26" name="Text 24"/>
          <p:cNvSpPr/>
          <p:nvPr/>
        </p:nvSpPr>
        <p:spPr>
          <a:xfrm>
            <a:off x="9045767"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LLMs in DSS</a:t>
            </a:r>
            <a:endParaRPr lang="en-US" sz="950" dirty="0"/>
          </a:p>
        </p:txBody>
      </p:sp>
      <p:sp>
        <p:nvSpPr>
          <p:cNvPr id="27" name="Shape 25"/>
          <p:cNvSpPr/>
          <p:nvPr/>
        </p:nvSpPr>
        <p:spPr>
          <a:xfrm>
            <a:off x="10993831" y="3209544"/>
            <a:ext cx="384048" cy="384048"/>
          </a:xfrm>
          <a:prstGeom prst="ellipse">
            <a:avLst/>
          </a:prstGeom>
          <a:solidFill>
            <a:srgbClr val="B9C6D1"/>
          </a:solidFill>
          <a:ln w="12700">
            <a:solidFill>
              <a:srgbClr val="FFFFFF"/>
            </a:solidFill>
            <a:prstDash val="solid"/>
          </a:ln>
        </p:spPr>
      </p:sp>
      <p:sp>
        <p:nvSpPr>
          <p:cNvPr id="28" name="Text 26"/>
          <p:cNvSpPr/>
          <p:nvPr/>
        </p:nvSpPr>
        <p:spPr>
          <a:xfrm>
            <a:off x="10637215"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4-2</a:t>
            </a:r>
            <a:endParaRPr lang="en-US" sz="1100" dirty="0"/>
          </a:p>
        </p:txBody>
      </p:sp>
      <p:sp>
        <p:nvSpPr>
          <p:cNvPr id="29" name="Text 27"/>
          <p:cNvSpPr/>
          <p:nvPr/>
        </p:nvSpPr>
        <p:spPr>
          <a:xfrm>
            <a:off x="10500055"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Ethics</a:t>
            </a:r>
            <a:endParaRPr lang="en-US" sz="950" dirty="0"/>
          </a:p>
        </p:txBody>
      </p:sp>
      <p:sp>
        <p:nvSpPr>
          <p:cNvPr id="30" name="Text 28"/>
          <p:cNvSpPr/>
          <p:nvPr/>
        </p:nvSpPr>
        <p:spPr>
          <a:xfrm>
            <a:off x="1005840" y="5120640"/>
            <a:ext cx="10149840" cy="8229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Eight class meetings build from foundational concepts to a team-built, human-reviewed Urban AI Decision-Support Brief. Today's class is highlighted in amber above.</a:t>
            </a:r>
            <a:endParaRPr lang="en-US" sz="140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Learning Objectives</a:t>
            </a:r>
            <a:endParaRPr lang="en-US" sz="2800" dirty="0"/>
          </a:p>
        </p:txBody>
      </p:sp>
      <p:sp>
        <p:nvSpPr>
          <p:cNvPr id="4" name="Text 2"/>
          <p:cNvSpPr/>
          <p:nvPr/>
        </p:nvSpPr>
        <p:spPr>
          <a:xfrm>
            <a:off x="640080" y="1143000"/>
            <a:ext cx="10515600" cy="3657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By the end of this class, you will be able to:</a:t>
            </a:r>
            <a:endParaRPr lang="en-US" sz="1400" dirty="0"/>
          </a:p>
        </p:txBody>
      </p:sp>
      <p:sp>
        <p:nvSpPr>
          <p:cNvPr id="5" name="Shape 3"/>
          <p:cNvSpPr/>
          <p:nvPr/>
        </p:nvSpPr>
        <p:spPr>
          <a:xfrm>
            <a:off x="640080" y="1737360"/>
            <a:ext cx="457200" cy="457200"/>
          </a:xfrm>
          <a:prstGeom prst="ellipse">
            <a:avLst/>
          </a:prstGeom>
          <a:solidFill>
            <a:srgbClr val="132A4C"/>
          </a:solidFill>
          <a:ln/>
        </p:spPr>
      </p:sp>
      <p:sp>
        <p:nvSpPr>
          <p:cNvPr id="6" name="Text 4"/>
          <p:cNvSpPr/>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25880" y="1691640"/>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Define site analysis and suitability analysis and explain the logic of the map-overlay method.</a:t>
            </a:r>
            <a:endParaRPr lang="en-US" sz="1500" dirty="0"/>
          </a:p>
        </p:txBody>
      </p:sp>
      <p:sp>
        <p:nvSpPr>
          <p:cNvPr id="8" name="Shape 6"/>
          <p:cNvSpPr/>
          <p:nvPr/>
        </p:nvSpPr>
        <p:spPr>
          <a:xfrm>
            <a:off x="640080" y="2688336"/>
            <a:ext cx="457200" cy="457200"/>
          </a:xfrm>
          <a:prstGeom prst="ellipse">
            <a:avLst/>
          </a:prstGeom>
          <a:solidFill>
            <a:srgbClr val="132A4C"/>
          </a:solidFill>
          <a:ln/>
        </p:spPr>
      </p:sp>
      <p:sp>
        <p:nvSpPr>
          <p:cNvPr id="9" name="Text 7"/>
          <p:cNvSpPr/>
          <p:nvPr/>
        </p:nvSpPr>
        <p:spPr>
          <a:xfrm>
            <a:off x="64008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325880" y="2642616"/>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Explain what a simulation model does in urban planning and how it differs from a suitability map.</a:t>
            </a:r>
            <a:endParaRPr lang="en-US" sz="1500" dirty="0"/>
          </a:p>
        </p:txBody>
      </p:sp>
      <p:sp>
        <p:nvSpPr>
          <p:cNvPr id="11" name="Shape 9"/>
          <p:cNvSpPr/>
          <p:nvPr/>
        </p:nvSpPr>
        <p:spPr>
          <a:xfrm>
            <a:off x="640080" y="3639312"/>
            <a:ext cx="457200" cy="457200"/>
          </a:xfrm>
          <a:prstGeom prst="ellipse">
            <a:avLst/>
          </a:prstGeom>
          <a:solidFill>
            <a:srgbClr val="132A4C"/>
          </a:solidFill>
          <a:ln/>
        </p:spPr>
      </p:sp>
      <p:sp>
        <p:nvSpPr>
          <p:cNvPr id="12" name="Text 10"/>
          <p:cNvSpPr/>
          <p:nvPr/>
        </p:nvSpPr>
        <p:spPr>
          <a:xfrm>
            <a:off x="640080" y="3639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325880" y="3593592"/>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Describe two real, deployed urban simulation or suitability tools and what each is used for.</a:t>
            </a:r>
            <a:endParaRPr lang="en-US" sz="1500" dirty="0"/>
          </a:p>
        </p:txBody>
      </p:sp>
      <p:sp>
        <p:nvSpPr>
          <p:cNvPr id="14" name="Shape 12"/>
          <p:cNvSpPr/>
          <p:nvPr/>
        </p:nvSpPr>
        <p:spPr>
          <a:xfrm>
            <a:off x="640080" y="4590288"/>
            <a:ext cx="457200" cy="457200"/>
          </a:xfrm>
          <a:prstGeom prst="ellipse">
            <a:avLst/>
          </a:prstGeom>
          <a:solidFill>
            <a:srgbClr val="132A4C"/>
          </a:solidFill>
          <a:ln/>
        </p:spPr>
      </p:sp>
      <p:sp>
        <p:nvSpPr>
          <p:cNvPr id="15" name="Text 13"/>
          <p:cNvSpPr/>
          <p:nvPr/>
        </p:nvSpPr>
        <p:spPr>
          <a:xfrm>
            <a:off x="64008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325880" y="4544568"/>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Work through a simple multi-criteria suitability example by hand.</a:t>
            </a:r>
            <a:endParaRPr lang="en-US" sz="1500" dirty="0"/>
          </a:p>
        </p:txBody>
      </p:sp>
      <p:sp>
        <p:nvSpPr>
          <p:cNvPr id="17" name="Shape 15"/>
          <p:cNvSpPr/>
          <p:nvPr/>
        </p:nvSpPr>
        <p:spPr>
          <a:xfrm>
            <a:off x="640080" y="5541264"/>
            <a:ext cx="457200" cy="457200"/>
          </a:xfrm>
          <a:prstGeom prst="ellipse">
            <a:avLst/>
          </a:prstGeom>
          <a:solidFill>
            <a:srgbClr val="132A4C"/>
          </a:solidFill>
          <a:ln/>
        </p:spPr>
      </p:sp>
      <p:sp>
        <p:nvSpPr>
          <p:cNvPr id="18" name="Text 16"/>
          <p:cNvSpPr/>
          <p:nvPr/>
        </p:nvSpPr>
        <p:spPr>
          <a:xfrm>
            <a:off x="640080" y="5541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325880" y="5495544"/>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Identify how criteria and weighting choices in a suitability or simulation model quietly encode value judgments.</a:t>
            </a:r>
            <a:endParaRPr lang="en-US" sz="150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Is Site Analysis?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Site analysis is the systematic evaluation of a specific location's physical, environmental, infrastructural, and social characteristics before deciding what to do there.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Typical factors: topography and slope, soil and drainage, flood zone status, existing infrastructure, zoning, ownership, and surrounding land uses.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It's the foundation for almost every physical planning decision — from a single park to a regional transit line — and it's where planning meets data most directly.</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Site analysis by itself is descriptive; suitability analysis (next slide) is what turns it into a comparison across sites.</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KEY TERM</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Site analysis answers 'what is this place like?' before anyone asks 'what should go here?'</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Suitability Analysis: The Overlay Method</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Suitability analysis ranks or scores multiple candidate sites against a shared set of criteria to identify which best fits a proposed use.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classic method — layered map overlay — comes from landscape architect Ian McHarg's 1969 book Design with Nature, which proposed stacking transparent maps of individual factors (slope, soils, flood risk, habitat) to reveal where development is and isn't appropriate.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Modern GIS tools like ArcGIS and QGIS do this digitally: each criterion becomes a raster or vector layer, layers are weighted, and the software computes a combined suitability score per location.</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overlay method is over 50 years old, but it is still the conceptual backbone of nearly every digital suitability tool used in planning today.</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Simulation in Urban Planning</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Where suitability analysis scores existing conditions, simulation models project how a city might change over time under different rules or scenarios.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Two common families: agent-based models (individual households, businesses, or vehicles follow simple behavior rules that produce city-scale patterns) and cellular automata (a grid of cells changes state — developed/undeveloped — based on neighboring cells' states).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Simulations are used to forecast land-use change, transportation demand, or growth patterns decades into the future, feeding long-range comprehensive plans.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simulation is only as good as the behavior rules and data behind it — it does not 'know' the future, it plays out assumptions.</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REMEMBER</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A simulation shows what would happen IF the assumptions hold — not what WILL happen.</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UrbanSim — Seattle / Puget Sound Region</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UrbanSim is a real, open-source urban simulation platform (originally developed by Paul Waddell) that models how households, businesses, and developers interact with the land and housing market over time.</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The Puget Sound Regional Council, which coordinates transportation and land-use planning for the greater Seattle area, has used UrbanSim to forecast how transportation investments and zoning changes would shift population and job locations decades into the future.</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It's an agent-based model at its core: simulated households and firms make location choices based on price, accessibility, and preferences, and the aggregate pattern emerges from those individual choices.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UrbanSim is used specifically to test long-range regional plans against alternative policy scenarios before large infrastructure investments are made.</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UrbanSim shows simulation used at the scale it's built for — supporting a decades-long regional planning process with many rounds of scenario testing, not a one-off prediction treated as certain.</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SLEUTH — Simulating Urban Growth (San Francisco Bay Area)</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SLEUTH is a real, well-documented cellular-automata model (developed by geographer Keith Clarke) used by researchers and agencies including the USGS to simulate urban growth patterns.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has been applied to the San Francisco Bay Area and many other regions to project where development is likely to spread given historical growth patterns, transportation networks, and land-use constraints.</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Its grid-cell logic is simple to explain: each cell becomes developed or stays undeveloped based on the state of its neighbors and a small set of growth rules — yet the aggregate patterns closely resemble real urban sprawl.</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SLEUTH is often used to compare 'business as usual' growth against constrained or managed-growth scenarios, informing conversations about open-space preservation.</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SLEUTH illustrates that a simulation doesn't need to be complex to be useful — a few well-chosen local rules can produce policy-relevant regional patterns, but it also means small rule choices meaningfully shift the outcome map.</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Worked Example: A 3-Criteria Suitability Overlay</a:t>
            </a:r>
            <a:endParaRPr lang="en-US" sz="2800" dirty="0"/>
          </a:p>
        </p:txBody>
      </p:sp>
      <p:sp>
        <p:nvSpPr>
          <p:cNvPr id="4" name="Shape 2"/>
          <p:cNvSpPr/>
          <p:nvPr/>
        </p:nvSpPr>
        <p:spPr>
          <a:xfrm>
            <a:off x="640080" y="1307592"/>
            <a:ext cx="402336" cy="402336"/>
          </a:xfrm>
          <a:prstGeom prst="ellipse">
            <a:avLst/>
          </a:prstGeom>
          <a:solidFill>
            <a:srgbClr val="132A4C"/>
          </a:solidFill>
          <a:ln/>
        </p:spPr>
      </p:sp>
      <p:sp>
        <p:nvSpPr>
          <p:cNvPr id="5" name="Text 3"/>
          <p:cNvSpPr/>
          <p:nvPr/>
        </p:nvSpPr>
        <p:spPr>
          <a:xfrm>
            <a:off x="640080" y="1307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28016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Goal: site a new community garden among three vacant parcels (A, B, C).</a:t>
            </a:r>
            <a:endParaRPr lang="en-US" sz="1400" dirty="0"/>
          </a:p>
        </p:txBody>
      </p:sp>
      <p:sp>
        <p:nvSpPr>
          <p:cNvPr id="7" name="Shape 5"/>
          <p:cNvSpPr/>
          <p:nvPr/>
        </p:nvSpPr>
        <p:spPr>
          <a:xfrm>
            <a:off x="640080" y="2138172"/>
            <a:ext cx="402336" cy="402336"/>
          </a:xfrm>
          <a:prstGeom prst="ellipse">
            <a:avLst/>
          </a:prstGeom>
          <a:solidFill>
            <a:srgbClr val="132A4C"/>
          </a:solidFill>
          <a:ln/>
        </p:spPr>
      </p:sp>
      <p:sp>
        <p:nvSpPr>
          <p:cNvPr id="8" name="Text 6"/>
          <p:cNvSpPr/>
          <p:nvPr/>
        </p:nvSpPr>
        <p:spPr>
          <a:xfrm>
            <a:off x="640080" y="21381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234440" y="211074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Criteria: soil quality, sun exposure, and walkability from surrounding housing — each rated High/Medium/Low, not a false-precision number.</a:t>
            </a:r>
            <a:endParaRPr lang="en-US" sz="1400" dirty="0"/>
          </a:p>
        </p:txBody>
      </p:sp>
      <p:sp>
        <p:nvSpPr>
          <p:cNvPr id="10" name="Shape 8"/>
          <p:cNvSpPr/>
          <p:nvPr/>
        </p:nvSpPr>
        <p:spPr>
          <a:xfrm>
            <a:off x="640080" y="2968752"/>
            <a:ext cx="402336" cy="402336"/>
          </a:xfrm>
          <a:prstGeom prst="ellipse">
            <a:avLst/>
          </a:prstGeom>
          <a:solidFill>
            <a:srgbClr val="132A4C"/>
          </a:solidFill>
          <a:ln/>
        </p:spPr>
      </p:sp>
      <p:sp>
        <p:nvSpPr>
          <p:cNvPr id="11" name="Text 9"/>
          <p:cNvSpPr/>
          <p:nvPr/>
        </p:nvSpPr>
        <p:spPr>
          <a:xfrm>
            <a:off x="640080" y="29687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234440" y="294132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Parcel A: soil = Medium, sun = High, walkability = High.</a:t>
            </a:r>
            <a:endParaRPr lang="en-US" sz="1400" dirty="0"/>
          </a:p>
        </p:txBody>
      </p:sp>
      <p:sp>
        <p:nvSpPr>
          <p:cNvPr id="13" name="Shape 11"/>
          <p:cNvSpPr/>
          <p:nvPr/>
        </p:nvSpPr>
        <p:spPr>
          <a:xfrm>
            <a:off x="640080" y="3799332"/>
            <a:ext cx="402336" cy="402336"/>
          </a:xfrm>
          <a:prstGeom prst="ellipse">
            <a:avLst/>
          </a:prstGeom>
          <a:solidFill>
            <a:srgbClr val="132A4C"/>
          </a:solidFill>
          <a:ln/>
        </p:spPr>
      </p:sp>
      <p:sp>
        <p:nvSpPr>
          <p:cNvPr id="14" name="Text 12"/>
          <p:cNvSpPr/>
          <p:nvPr/>
        </p:nvSpPr>
        <p:spPr>
          <a:xfrm>
            <a:off x="640080" y="37993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234440" y="377190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Parcel B: soil = High, sun = Medium, walkability = Low (farther from housing).</a:t>
            </a:r>
            <a:endParaRPr lang="en-US" sz="1400" dirty="0"/>
          </a:p>
        </p:txBody>
      </p:sp>
      <p:sp>
        <p:nvSpPr>
          <p:cNvPr id="16" name="Shape 14"/>
          <p:cNvSpPr/>
          <p:nvPr/>
        </p:nvSpPr>
        <p:spPr>
          <a:xfrm>
            <a:off x="640080" y="4629912"/>
            <a:ext cx="402336" cy="402336"/>
          </a:xfrm>
          <a:prstGeom prst="ellipse">
            <a:avLst/>
          </a:prstGeom>
          <a:solidFill>
            <a:srgbClr val="132A4C"/>
          </a:solidFill>
          <a:ln/>
        </p:spPr>
      </p:sp>
      <p:sp>
        <p:nvSpPr>
          <p:cNvPr id="17" name="Text 15"/>
          <p:cNvSpPr/>
          <p:nvPr/>
        </p:nvSpPr>
        <p:spPr>
          <a:xfrm>
            <a:off x="640080" y="4629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234440" y="460248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Parcel C: soil = Low, sun = High, walkability = Medium.</a:t>
            </a:r>
            <a:endParaRPr lang="en-US" sz="1400" dirty="0"/>
          </a:p>
        </p:txBody>
      </p:sp>
      <p:sp>
        <p:nvSpPr>
          <p:cNvPr id="19" name="Shape 17"/>
          <p:cNvSpPr/>
          <p:nvPr/>
        </p:nvSpPr>
        <p:spPr>
          <a:xfrm>
            <a:off x="640080" y="5460492"/>
            <a:ext cx="402336" cy="402336"/>
          </a:xfrm>
          <a:prstGeom prst="ellipse">
            <a:avLst/>
          </a:prstGeom>
          <a:solidFill>
            <a:srgbClr val="132A4C"/>
          </a:solidFill>
          <a:ln/>
        </p:spPr>
      </p:sp>
      <p:sp>
        <p:nvSpPr>
          <p:cNvPr id="20" name="Text 18"/>
          <p:cNvSpPr/>
          <p:nvPr/>
        </p:nvSpPr>
        <p:spPr>
          <a:xfrm>
            <a:off x="640080" y="54604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234440" y="5433060"/>
            <a:ext cx="10241280" cy="775716"/>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Overlay and compare: no parcel wins on every criterion — the 'best' site depends on which criterion the community weights most, which is a judgment call, not a calculation.</a:t>
            </a:r>
            <a:endParaRPr lang="en-US" sz="1400" dirty="0"/>
          </a:p>
        </p:txBody>
      </p:sp>
      <p:sp>
        <p:nvSpPr>
          <p:cNvPr id="22" name="Text 20"/>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3"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Data and Model Choices Change the Outcome</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resolution of your data (parcel-level vs. block-level vs. citywide) changes what patterns a suitability or simulation model can even see.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The weights assigned to each criterion in an overlay are chosen by someone — change the weight on 'walkability' relative to 'soil quality' and a different parcel wins.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In simulation, the behavior rules (how strongly does proximity to a highway attract development?) are assumptions, often calibrated on historical data that may itself reflect past inequities.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None of this makes these tools useless — it means every suitability or simulation output needs its assumptions documented and reviewed, which is exactly what your team's future Decision-Support Brief will require.</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Common Misconceptions</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“Simulation predicts the future precisely” — a simulation projects a plausible future under stated assumptions; it is not a forecast with guaranteed accuracy.</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“Suitability analysis is objective because it uses GIS and numbers” — the criteria chosen and the weights assigned are value judgments, even when the output looks like a clean, authoritative map.</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 higher-resolution model is always a better model” — more resolution costs more time and data, and doesn't fix a flawed criterion or rule set.</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“If the overlay says a site is 'high suitability,' that settles it” — suitability analysis narrows a decision; it doesn't replace stakeholder input or human judgment on the final choice.</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Could Go Wrong: Highway Routing Through Syracuse's 15th Ward</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In the 1950s–60s, Syracuse routed the elevated Interstate 81 directly through the 15th Ward, a historically Black neighborhood, displacing residents and businesses and physically dividing the community — a pattern repeated in many U.S. cities during the interstate-highway era.</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The routing decisions of that era were justified at the time using technical criteria — cost, engineering feasibility, existing right-of-way — that appeared neutral on paper but consistently avoided wealthier, better-politically-connected neighborhoods.</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Syracuse is now in the process of removing the elevated highway and replacing it with an at-grade 'community grid,' an effort informed by decades of documented harm and community advocacy.</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The lesson for suitability analysis and simulation: technical criteria that look neutral can still produce inequitable outcomes if the criteria set never explicitly weighs displacement or community impact.</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BREAKOUT ACTIVITY</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Breakout: Score Three Parcels</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Using the community-garden handout, each team scores the same three parcels on soil, sun exposure, and walkability (High/Medium/Low).</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Rank the parcels for your team's assigned priority (e.g., 'prioritize walkability').</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Compare rankings with a team that had a different assigned priority — did the 'best' site change?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Write one sentence naming the assumption your team made that most affected the outcome.</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UP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Up Next: Lab 1 — Text Mining Community Voice</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Lab 1 runs immediately after this class, in the same Meeting 3 session.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A (no code): a web-based word-cloud / sentiment tool applied to supplied park and transit review text.</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B (Colab): TF-IDF, sentiment analysis, and topic keywords over geolocated public reviews.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Artifact: a top-themes table plus one written bias note about whose voices are and aren't represented in the review data.</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DELIVERABLE DUE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Deliverable Due Next: Team Stakeholder Map (in progress)</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Team deliverable, building toward the Meeting 5 checkpoint.</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Begin identifying the stakeholders relevant to your team's chosen urban issue.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Note each stakeholder's interest and influence level — you'll formalize this in the Stakeholder Map template.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Bring a draft list to Meeting 4; the full Stakeholder Map + Decision Criteria Matrix is due at the Meeting 5 checkpoint.</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Analytic Models I: Site Analysis &amp; Simulation</dc:title>
  <dc:subject>PptxGenJS Presentation</dc:subject>
  <dc:creator>Urban AI · MSU AI-Ready Initiative</dc:creator>
  <cp:lastModifiedBy>Urban AI · MSU AI-Ready Initiative</cp:lastModifiedBy>
  <cp:revision>1</cp:revision>
  <dcterms:created xsi:type="dcterms:W3CDTF">2026-08-11T12:52:23Z</dcterms:created>
  <dcterms:modified xsi:type="dcterms:W3CDTF">2026-08-11T12:52:23Z</dcterms:modified>
</cp:coreProperties>
</file>