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this in something tangible: pick a building on campus and ask students to name three features they'd use to predict its energy bill. This is the vocabulary the rest of the deck depends on, so don't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driving-school analogy if helpful: training is learning to drive; inference is driving on a new street using what you learned. Flag data drift briefly here — it pays off later when discussed 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unsupervised learning explicitly to Lab 2 so students recognize it later. If time allows, ask for a show of hands on which category a couple of quick urban examples fall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'good example' in this deck's pairing — contrast it with the Zillow case next, which is the cautionary one. Ask students what made Chicago's use case narrow and well-scoped compared to a broader claim like 'predict the future of housing.'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this was a large, resourced tech company, not a small city with limited capacity — the lesson is about automation without sufficient guardrails, not about resources or expertise being lacking.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counterweight to hype in either direction — neither 'AI can do anything' nor 'AI is useless.' Have students connect each 'cannot' to something from the Zestimate case just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previews Class 4-1 (LLMs in Decision Support) — keep it at the conceptual level and don't get pulled into transformer architecture detail. The key idea students need is fluency ≠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study-habits analogy: memorizing last year's exact exam questions vs. actually understanding the material. Connect explicitly to Lab 4's subgroup error-rate exercise so the payoff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distinction between 'more data' and 'more representative data' carefully — this is a common student misconception worth slowing down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criminal-justice example, not urban planning per se, but it's the field's most widely documented bias case and directly foreshadows the fairness-definition discussion in Class 4-2. Note the company's rebuttal exists — this keeps the discussion honest rather than one-sided.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9692640" y="4206240"/>
            <a:ext cx="2926080" cy="2926080"/>
          </a:xfrm>
          <a:prstGeom prst="ellipse">
            <a:avLst/>
          </a:prstGeom>
          <a:solidFill>
            <a:srgbClr val="0F3A63"/>
          </a:solidFill>
          <a:ln/>
        </p:spPr>
      </p:sp>
      <p:sp>
        <p:nvSpPr>
          <p:cNvPr id="3" name="Shape 1"/>
          <p:cNvSpPr/>
          <p:nvPr/>
        </p:nvSpPr>
        <p:spPr>
          <a:xfrm>
            <a:off x="10515600" y="5029200"/>
            <a:ext cx="1463040" cy="1463040"/>
          </a:xfrm>
          <a:prstGeom prst="ellipse">
            <a:avLst/>
          </a:prstGeom>
          <a:solidFill>
            <a:srgbClr val="1E7A8C">
              <a:alpha val="75000"/>
            </a:srgbClr>
          </a:solidFill>
          <a:ln/>
        </p:spPr>
      </p:sp>
      <p:sp>
        <p:nvSpPr>
          <p:cNvPr id="4" name="Shape 2"/>
          <p:cNvSpPr/>
          <p:nvPr/>
        </p:nvSpPr>
        <p:spPr>
          <a:xfrm>
            <a:off x="11247120" y="5760720"/>
            <a:ext cx="640080" cy="640080"/>
          </a:xfrm>
          <a:prstGeom prst="ellipse">
            <a:avLst/>
          </a:prstGeom>
          <a:solidFill>
            <a:srgbClr val="E8A33D"/>
          </a:solidFill>
          <a:ln/>
        </p:spPr>
      </p:sp>
      <p:sp>
        <p:nvSpPr>
          <p:cNvPr id="5" name="Text 3"/>
          <p:cNvSpPr/>
          <p:nvPr/>
        </p:nvSpPr>
        <p:spPr>
          <a:xfrm>
            <a:off x="640080" y="1005840"/>
            <a:ext cx="5486400" cy="457200"/>
          </a:xfrm>
          <a:prstGeom prst="rect">
            <a:avLst/>
          </a:prstGeom>
          <a:noFill/>
          <a:ln/>
        </p:spPr>
        <p:txBody>
          <a:bodyPr wrap="square" lIns="0" tIns="0" rIns="0" bIns="0" rtlCol="0" anchor="ctr"/>
          <a:lstStyle/>
          <a:p>
            <a:pPr indent="0" marL="0">
              <a:buNone/>
            </a:pPr>
            <a:r>
              <a:rPr lang="en-US" sz="1600" b="1" spc="200" kern="0" dirty="0">
                <a:solidFill>
                  <a:srgbClr val="E8A33D"/>
                </a:solidFill>
                <a:latin typeface="Calibri" pitchFamily="34" charset="0"/>
                <a:ea typeface="Calibri" pitchFamily="34" charset="-122"/>
                <a:cs typeface="Calibri" pitchFamily="34" charset="-120"/>
              </a:rPr>
              <a:t>CLASS 1-2</a:t>
            </a:r>
            <a:endParaRPr lang="en-US" sz="1600" dirty="0"/>
          </a:p>
        </p:txBody>
      </p:sp>
      <p:sp>
        <p:nvSpPr>
          <p:cNvPr id="6" name="Text 4"/>
          <p:cNvSpPr/>
          <p:nvPr/>
        </p:nvSpPr>
        <p:spPr>
          <a:xfrm>
            <a:off x="640080" y="1508760"/>
            <a:ext cx="9601200" cy="18288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AI Basics for Urban Problems</a:t>
            </a:r>
            <a:endParaRPr lang="en-US" sz="3800" dirty="0"/>
          </a:p>
        </p:txBody>
      </p:sp>
      <p:sp>
        <p:nvSpPr>
          <p:cNvPr id="7" name="Text 5"/>
          <p:cNvSpPr/>
          <p:nvPr/>
        </p:nvSpPr>
        <p:spPr>
          <a:xfrm>
            <a:off x="640080" y="3246120"/>
            <a:ext cx="868680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Urban AI: AI-Driven Decision Support for Real-World Urban Challenges</a:t>
            </a:r>
            <a:endParaRPr lang="en-US" sz="1500" dirty="0"/>
          </a:p>
        </p:txBody>
      </p:sp>
      <p:sp>
        <p:nvSpPr>
          <p:cNvPr id="8" name="Text 6"/>
          <p:cNvSpPr/>
          <p:nvPr/>
        </p:nvSpPr>
        <p:spPr>
          <a:xfrm>
            <a:off x="640080" y="3931920"/>
            <a:ext cx="7315200" cy="914400"/>
          </a:xfrm>
          <a:prstGeom prst="rect">
            <a:avLst/>
          </a:prstGeom>
          <a:noFill/>
          <a:ln/>
        </p:spPr>
        <p:txBody>
          <a:bodyPr wrap="square" lIns="0" tIns="0" rIns="0" bIns="0" rtlCol="0" anchor="ctr"/>
          <a:lstStyle/>
          <a:p>
            <a:pPr indent="0" marL="0">
              <a:lnSpc>
                <a:spcPct val="130000"/>
              </a:lnSpc>
              <a:buNone/>
            </a:pPr>
            <a:r>
              <a:rPr lang="en-US" sz="1400" b="1" dirty="0">
                <a:solidFill>
                  <a:srgbClr val="CADCFC"/>
                </a:solidFill>
                <a:latin typeface="Calibri" pitchFamily="34" charset="0"/>
                <a:ea typeface="Calibri" pitchFamily="34" charset="-122"/>
                <a:cs typeface="Calibri" pitchFamily="34" charset="-120"/>
              </a:rPr>
              <a:t>Instructor: </a:t>
            </a:r>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Jie Hou, Ph.D.
</a:t>
            </a:r>
            <a:pPr indent="0" marL="0">
              <a:lnSpc>
                <a:spcPct val="130000"/>
              </a:lnSpc>
              <a:buNone/>
            </a:pPr>
            <a:r>
              <a:rPr lang="en-US" sz="1400" b="1" dirty="0">
                <a:solidFill>
                  <a:srgbClr val="CADCFC"/>
                </a:solidFill>
                <a:latin typeface="Calibri" pitchFamily="34" charset="0"/>
                <a:ea typeface="Calibri" pitchFamily="34" charset="-122"/>
                <a:cs typeface="Calibri" pitchFamily="34" charset="-120"/>
              </a:rPr>
              <a:t>Duration: </a:t>
            </a:r>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75 minutes (Class segment of Meeting 2)</a:t>
            </a:r>
            <a:endParaRPr lang="en-US" sz="1400" dirty="0"/>
          </a:p>
        </p:txBody>
      </p:sp>
      <p:sp>
        <p:nvSpPr>
          <p:cNvPr id="9" name="Text 7"/>
          <p:cNvSpPr/>
          <p:nvPr/>
        </p:nvSpPr>
        <p:spPr>
          <a:xfrm>
            <a:off x="640080" y="6035040"/>
            <a:ext cx="7315200" cy="365760"/>
          </a:xfrm>
          <a:prstGeom prst="rect">
            <a:avLst/>
          </a:prstGeom>
          <a:noFill/>
          <a:ln/>
        </p:spPr>
        <p:txBody>
          <a:bodyPr wrap="square" lIns="0" tIns="0" rIns="0" bIns="0" rtlCol="0" anchor="ctr"/>
          <a:lstStyle/>
          <a:p>
            <a:pPr indent="0" marL="0">
              <a:buNone/>
            </a:pPr>
            <a:r>
              <a:rPr lang="en-US" sz="1100" dirty="0">
                <a:solidFill>
                  <a:srgbClr val="8FA6C2"/>
                </a:solidFill>
                <a:latin typeface="Calibri" pitchFamily="34" charset="0"/>
                <a:ea typeface="Calibri" pitchFamily="34" charset="-122"/>
                <a:cs typeface="Calibri" pitchFamily="34" charset="-120"/>
              </a:rPr>
              <a:t>MSU AI-Ready Initiative · Non-Credit Learning Experience</a:t>
            </a:r>
            <a:endParaRPr lang="en-US" sz="1100" dirty="0"/>
          </a:p>
        </p:txBody>
      </p:sp>
      <p:sp>
        <p:nvSpPr>
          <p:cNvPr id="10" name="Text 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11" name="Text 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Where We Are</a:t>
            </a:r>
            <a:endParaRPr lang="en-US" sz="2800" dirty="0"/>
          </a:p>
        </p:txBody>
      </p:sp>
      <p:sp>
        <p:nvSpPr>
          <p:cNvPr id="4" name="Shape 2"/>
          <p:cNvSpPr/>
          <p:nvPr/>
        </p:nvSpPr>
        <p:spPr>
          <a:xfrm>
            <a:off x="1005840" y="3401568"/>
            <a:ext cx="10180015" cy="0"/>
          </a:xfrm>
          <a:prstGeom prst="line">
            <a:avLst/>
          </a:prstGeom>
          <a:noFill/>
          <a:ln w="25400">
            <a:solidFill>
              <a:srgbClr val="CCD6DE"/>
            </a:solidFill>
            <a:prstDash val="solid"/>
          </a:ln>
        </p:spPr>
      </p:sp>
      <p:sp>
        <p:nvSpPr>
          <p:cNvPr id="5" name="Shape 3"/>
          <p:cNvSpPr/>
          <p:nvPr/>
        </p:nvSpPr>
        <p:spPr>
          <a:xfrm>
            <a:off x="813816" y="3209544"/>
            <a:ext cx="384048" cy="384048"/>
          </a:xfrm>
          <a:prstGeom prst="ellipse">
            <a:avLst/>
          </a:prstGeom>
          <a:solidFill>
            <a:srgbClr val="1E7A8C"/>
          </a:solidFill>
          <a:ln w="12700">
            <a:solidFill>
              <a:srgbClr val="FFFFFF"/>
            </a:solidFill>
            <a:prstDash val="solid"/>
          </a:ln>
        </p:spPr>
      </p:sp>
      <p:sp>
        <p:nvSpPr>
          <p:cNvPr id="6" name="Text 4"/>
          <p:cNvSpPr/>
          <p:nvPr/>
        </p:nvSpPr>
        <p:spPr>
          <a:xfrm>
            <a:off x="457200"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1-1</a:t>
            </a:r>
            <a:endParaRPr lang="en-US" sz="1100" dirty="0"/>
          </a:p>
        </p:txBody>
      </p:sp>
      <p:sp>
        <p:nvSpPr>
          <p:cNvPr id="7" name="Text 5"/>
          <p:cNvSpPr/>
          <p:nvPr/>
        </p:nvSpPr>
        <p:spPr>
          <a:xfrm>
            <a:off x="320040"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Urban AI</a:t>
            </a:r>
            <a:endParaRPr lang="en-US" sz="950" dirty="0"/>
          </a:p>
        </p:txBody>
      </p:sp>
      <p:sp>
        <p:nvSpPr>
          <p:cNvPr id="8" name="Shape 6"/>
          <p:cNvSpPr/>
          <p:nvPr/>
        </p:nvSpPr>
        <p:spPr>
          <a:xfrm>
            <a:off x="2176664" y="3118104"/>
            <a:ext cx="566928" cy="566928"/>
          </a:xfrm>
          <a:prstGeom prst="ellipse">
            <a:avLst/>
          </a:prstGeom>
          <a:solidFill>
            <a:srgbClr val="E8A33D"/>
          </a:solidFill>
          <a:ln w="25400">
            <a:solidFill>
              <a:srgbClr val="FFFFFF"/>
            </a:solidFill>
            <a:prstDash val="solid"/>
          </a:ln>
        </p:spPr>
      </p:sp>
      <p:sp>
        <p:nvSpPr>
          <p:cNvPr id="9" name="Text 7"/>
          <p:cNvSpPr/>
          <p:nvPr/>
        </p:nvSpPr>
        <p:spPr>
          <a:xfrm>
            <a:off x="2094368" y="3264408"/>
            <a:ext cx="731520" cy="320040"/>
          </a:xfrm>
          <a:prstGeom prst="rect">
            <a:avLst/>
          </a:prstGeom>
          <a:noFill/>
          <a:ln/>
        </p:spPr>
        <p:txBody>
          <a:bodyPr wrap="square" lIns="0" tIns="0" rIns="0" bIns="0" rtlCol="0" anchor="ctr"/>
          <a:lstStyle/>
          <a:p>
            <a:pPr algn="ctr" indent="0" marL="0">
              <a:buNone/>
            </a:pPr>
            <a:r>
              <a:rPr lang="en-US" sz="1200" b="1" dirty="0">
                <a:solidFill>
                  <a:srgbClr val="132A4C"/>
                </a:solidFill>
                <a:latin typeface="Calibri" pitchFamily="34" charset="0"/>
                <a:ea typeface="Calibri" pitchFamily="34" charset="-122"/>
                <a:cs typeface="Calibri" pitchFamily="34" charset="-120"/>
              </a:rPr>
              <a:t>1-2</a:t>
            </a:r>
            <a:endParaRPr lang="en-US" sz="1200" dirty="0"/>
          </a:p>
        </p:txBody>
      </p:sp>
      <p:sp>
        <p:nvSpPr>
          <p:cNvPr id="10" name="Text 8"/>
          <p:cNvSpPr/>
          <p:nvPr/>
        </p:nvSpPr>
        <p:spPr>
          <a:xfrm>
            <a:off x="1911488" y="3794760"/>
            <a:ext cx="1097280" cy="274320"/>
          </a:xfrm>
          <a:prstGeom prst="rect">
            <a:avLst/>
          </a:prstGeom>
          <a:noFill/>
          <a:ln/>
        </p:spPr>
        <p:txBody>
          <a:bodyPr wrap="square" lIns="0" tIns="0" rIns="0" bIns="0" rtlCol="0" anchor="ctr"/>
          <a:lstStyle/>
          <a:p>
            <a:pPr algn="ctr" indent="0" marL="0">
              <a:buNone/>
            </a:pPr>
            <a:r>
              <a:rPr lang="en-US" sz="1100" b="1" dirty="0">
                <a:solidFill>
                  <a:srgbClr val="132A4C"/>
                </a:solidFill>
                <a:latin typeface="Calibri" pitchFamily="34" charset="0"/>
                <a:ea typeface="Calibri" pitchFamily="34" charset="-122"/>
                <a:cs typeface="Calibri" pitchFamily="34" charset="-120"/>
              </a:rPr>
              <a:t>1-2</a:t>
            </a:r>
            <a:endParaRPr lang="en-US" sz="1100" dirty="0"/>
          </a:p>
        </p:txBody>
      </p:sp>
      <p:sp>
        <p:nvSpPr>
          <p:cNvPr id="11" name="Text 9"/>
          <p:cNvSpPr/>
          <p:nvPr/>
        </p:nvSpPr>
        <p:spPr>
          <a:xfrm>
            <a:off x="1774328" y="4069080"/>
            <a:ext cx="1371600" cy="457200"/>
          </a:xfrm>
          <a:prstGeom prst="rect">
            <a:avLst/>
          </a:prstGeom>
          <a:noFill/>
          <a:ln/>
        </p:spPr>
        <p:txBody>
          <a:bodyPr wrap="square" lIns="0" tIns="0" rIns="0" bIns="0" rtlCol="0" anchor="ctr"/>
          <a:lstStyle/>
          <a:p>
            <a:pPr algn="ctr" indent="0" marL="0">
              <a:buNone/>
            </a:pPr>
            <a:r>
              <a:rPr lang="en-US" sz="950" dirty="0">
                <a:solidFill>
                  <a:srgbClr val="1B2A3D"/>
                </a:solidFill>
                <a:latin typeface="Calibri" pitchFamily="34" charset="0"/>
                <a:ea typeface="Calibri" pitchFamily="34" charset="-122"/>
                <a:cs typeface="Calibri" pitchFamily="34" charset="-120"/>
              </a:rPr>
              <a:t>AI Basics</a:t>
            </a:r>
            <a:endParaRPr lang="en-US" sz="950" dirty="0"/>
          </a:p>
        </p:txBody>
      </p:sp>
      <p:sp>
        <p:nvSpPr>
          <p:cNvPr id="12" name="Shape 10"/>
          <p:cNvSpPr/>
          <p:nvPr/>
        </p:nvSpPr>
        <p:spPr>
          <a:xfrm>
            <a:off x="3722392" y="3209544"/>
            <a:ext cx="384048" cy="384048"/>
          </a:xfrm>
          <a:prstGeom prst="ellipse">
            <a:avLst/>
          </a:prstGeom>
          <a:solidFill>
            <a:srgbClr val="B9C6D1"/>
          </a:solidFill>
          <a:ln w="12700">
            <a:solidFill>
              <a:srgbClr val="FFFFFF"/>
            </a:solidFill>
            <a:prstDash val="solid"/>
          </a:ln>
        </p:spPr>
      </p:sp>
      <p:sp>
        <p:nvSpPr>
          <p:cNvPr id="13" name="Text 11"/>
          <p:cNvSpPr/>
          <p:nvPr/>
        </p:nvSpPr>
        <p:spPr>
          <a:xfrm>
            <a:off x="3365776"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2-1</a:t>
            </a:r>
            <a:endParaRPr lang="en-US" sz="1100" dirty="0"/>
          </a:p>
        </p:txBody>
      </p:sp>
      <p:sp>
        <p:nvSpPr>
          <p:cNvPr id="14" name="Text 12"/>
          <p:cNvSpPr/>
          <p:nvPr/>
        </p:nvSpPr>
        <p:spPr>
          <a:xfrm>
            <a:off x="3228616"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Models I</a:t>
            </a:r>
            <a:endParaRPr lang="en-US" sz="950" dirty="0"/>
          </a:p>
        </p:txBody>
      </p:sp>
      <p:sp>
        <p:nvSpPr>
          <p:cNvPr id="15" name="Shape 13"/>
          <p:cNvSpPr/>
          <p:nvPr/>
        </p:nvSpPr>
        <p:spPr>
          <a:xfrm>
            <a:off x="5176680" y="3209544"/>
            <a:ext cx="384048" cy="384048"/>
          </a:xfrm>
          <a:prstGeom prst="ellipse">
            <a:avLst/>
          </a:prstGeom>
          <a:solidFill>
            <a:srgbClr val="B9C6D1"/>
          </a:solidFill>
          <a:ln w="12700">
            <a:solidFill>
              <a:srgbClr val="FFFFFF"/>
            </a:solidFill>
            <a:prstDash val="solid"/>
          </a:ln>
        </p:spPr>
      </p:sp>
      <p:sp>
        <p:nvSpPr>
          <p:cNvPr id="16" name="Text 14"/>
          <p:cNvSpPr/>
          <p:nvPr/>
        </p:nvSpPr>
        <p:spPr>
          <a:xfrm>
            <a:off x="4820064"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2-2</a:t>
            </a:r>
            <a:endParaRPr lang="en-US" sz="1100" dirty="0"/>
          </a:p>
        </p:txBody>
      </p:sp>
      <p:sp>
        <p:nvSpPr>
          <p:cNvPr id="17" name="Text 15"/>
          <p:cNvSpPr/>
          <p:nvPr/>
        </p:nvSpPr>
        <p:spPr>
          <a:xfrm>
            <a:off x="4682904"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Models II</a:t>
            </a:r>
            <a:endParaRPr lang="en-US" sz="950" dirty="0"/>
          </a:p>
        </p:txBody>
      </p:sp>
      <p:sp>
        <p:nvSpPr>
          <p:cNvPr id="18" name="Shape 16"/>
          <p:cNvSpPr/>
          <p:nvPr/>
        </p:nvSpPr>
        <p:spPr>
          <a:xfrm>
            <a:off x="6630968" y="3209544"/>
            <a:ext cx="384048" cy="384048"/>
          </a:xfrm>
          <a:prstGeom prst="ellipse">
            <a:avLst/>
          </a:prstGeom>
          <a:solidFill>
            <a:srgbClr val="B9C6D1"/>
          </a:solidFill>
          <a:ln w="12700">
            <a:solidFill>
              <a:srgbClr val="FFFFFF"/>
            </a:solidFill>
            <a:prstDash val="solid"/>
          </a:ln>
        </p:spPr>
      </p:sp>
      <p:sp>
        <p:nvSpPr>
          <p:cNvPr id="19" name="Text 17"/>
          <p:cNvSpPr/>
          <p:nvPr/>
        </p:nvSpPr>
        <p:spPr>
          <a:xfrm>
            <a:off x="6274352"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3-1</a:t>
            </a:r>
            <a:endParaRPr lang="en-US" sz="1100" dirty="0"/>
          </a:p>
        </p:txBody>
      </p:sp>
      <p:sp>
        <p:nvSpPr>
          <p:cNvPr id="20" name="Text 18"/>
          <p:cNvSpPr/>
          <p:nvPr/>
        </p:nvSpPr>
        <p:spPr>
          <a:xfrm>
            <a:off x="6137192"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DSS Cases I</a:t>
            </a:r>
            <a:endParaRPr lang="en-US" sz="950" dirty="0"/>
          </a:p>
        </p:txBody>
      </p:sp>
      <p:sp>
        <p:nvSpPr>
          <p:cNvPr id="21" name="Shape 19"/>
          <p:cNvSpPr/>
          <p:nvPr/>
        </p:nvSpPr>
        <p:spPr>
          <a:xfrm>
            <a:off x="8085255" y="3209544"/>
            <a:ext cx="384048" cy="384048"/>
          </a:xfrm>
          <a:prstGeom prst="ellipse">
            <a:avLst/>
          </a:prstGeom>
          <a:solidFill>
            <a:srgbClr val="B9C6D1"/>
          </a:solidFill>
          <a:ln w="12700">
            <a:solidFill>
              <a:srgbClr val="FFFFFF"/>
            </a:solidFill>
            <a:prstDash val="solid"/>
          </a:ln>
        </p:spPr>
      </p:sp>
      <p:sp>
        <p:nvSpPr>
          <p:cNvPr id="22" name="Text 20"/>
          <p:cNvSpPr/>
          <p:nvPr/>
        </p:nvSpPr>
        <p:spPr>
          <a:xfrm>
            <a:off x="7728639"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3-2</a:t>
            </a:r>
            <a:endParaRPr lang="en-US" sz="1100" dirty="0"/>
          </a:p>
        </p:txBody>
      </p:sp>
      <p:sp>
        <p:nvSpPr>
          <p:cNvPr id="23" name="Text 21"/>
          <p:cNvSpPr/>
          <p:nvPr/>
        </p:nvSpPr>
        <p:spPr>
          <a:xfrm>
            <a:off x="7591479"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DSS Cases II</a:t>
            </a:r>
            <a:endParaRPr lang="en-US" sz="950" dirty="0"/>
          </a:p>
        </p:txBody>
      </p:sp>
      <p:sp>
        <p:nvSpPr>
          <p:cNvPr id="24" name="Shape 22"/>
          <p:cNvSpPr/>
          <p:nvPr/>
        </p:nvSpPr>
        <p:spPr>
          <a:xfrm>
            <a:off x="9539543" y="3209544"/>
            <a:ext cx="384048" cy="384048"/>
          </a:xfrm>
          <a:prstGeom prst="ellipse">
            <a:avLst/>
          </a:prstGeom>
          <a:solidFill>
            <a:srgbClr val="B9C6D1"/>
          </a:solidFill>
          <a:ln w="12700">
            <a:solidFill>
              <a:srgbClr val="FFFFFF"/>
            </a:solidFill>
            <a:prstDash val="solid"/>
          </a:ln>
        </p:spPr>
      </p:sp>
      <p:sp>
        <p:nvSpPr>
          <p:cNvPr id="25" name="Text 23"/>
          <p:cNvSpPr/>
          <p:nvPr/>
        </p:nvSpPr>
        <p:spPr>
          <a:xfrm>
            <a:off x="9182927"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4-1</a:t>
            </a:r>
            <a:endParaRPr lang="en-US" sz="1100" dirty="0"/>
          </a:p>
        </p:txBody>
      </p:sp>
      <p:sp>
        <p:nvSpPr>
          <p:cNvPr id="26" name="Text 24"/>
          <p:cNvSpPr/>
          <p:nvPr/>
        </p:nvSpPr>
        <p:spPr>
          <a:xfrm>
            <a:off x="9045767"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LLMs in DSS</a:t>
            </a:r>
            <a:endParaRPr lang="en-US" sz="950" dirty="0"/>
          </a:p>
        </p:txBody>
      </p:sp>
      <p:sp>
        <p:nvSpPr>
          <p:cNvPr id="27" name="Shape 25"/>
          <p:cNvSpPr/>
          <p:nvPr/>
        </p:nvSpPr>
        <p:spPr>
          <a:xfrm>
            <a:off x="10993831" y="3209544"/>
            <a:ext cx="384048" cy="384048"/>
          </a:xfrm>
          <a:prstGeom prst="ellipse">
            <a:avLst/>
          </a:prstGeom>
          <a:solidFill>
            <a:srgbClr val="B9C6D1"/>
          </a:solidFill>
          <a:ln w="12700">
            <a:solidFill>
              <a:srgbClr val="FFFFFF"/>
            </a:solidFill>
            <a:prstDash val="solid"/>
          </a:ln>
        </p:spPr>
      </p:sp>
      <p:sp>
        <p:nvSpPr>
          <p:cNvPr id="28" name="Text 26"/>
          <p:cNvSpPr/>
          <p:nvPr/>
        </p:nvSpPr>
        <p:spPr>
          <a:xfrm>
            <a:off x="10637215" y="3794760"/>
            <a:ext cx="1097280" cy="274320"/>
          </a:xfrm>
          <a:prstGeom prst="rect">
            <a:avLst/>
          </a:prstGeom>
          <a:noFill/>
          <a:ln/>
        </p:spPr>
        <p:txBody>
          <a:bodyPr wrap="square" lIns="0" tIns="0" rIns="0" bIns="0" rtlCol="0" anchor="ctr"/>
          <a:lstStyle/>
          <a:p>
            <a:pPr algn="ctr" indent="0" marL="0">
              <a:buNone/>
            </a:pPr>
            <a:r>
              <a:rPr lang="en-US" sz="1100" dirty="0">
                <a:solidFill>
                  <a:srgbClr val="5B6B7C"/>
                </a:solidFill>
                <a:latin typeface="Calibri" pitchFamily="34" charset="0"/>
                <a:ea typeface="Calibri" pitchFamily="34" charset="-122"/>
                <a:cs typeface="Calibri" pitchFamily="34" charset="-120"/>
              </a:rPr>
              <a:t>4-2</a:t>
            </a:r>
            <a:endParaRPr lang="en-US" sz="1100" dirty="0"/>
          </a:p>
        </p:txBody>
      </p:sp>
      <p:sp>
        <p:nvSpPr>
          <p:cNvPr id="29" name="Text 27"/>
          <p:cNvSpPr/>
          <p:nvPr/>
        </p:nvSpPr>
        <p:spPr>
          <a:xfrm>
            <a:off x="10500055" y="4069080"/>
            <a:ext cx="1371600" cy="457200"/>
          </a:xfrm>
          <a:prstGeom prst="rect">
            <a:avLst/>
          </a:prstGeom>
          <a:noFill/>
          <a:ln/>
        </p:spPr>
        <p:txBody>
          <a:bodyPr wrap="square" lIns="0" tIns="0" rIns="0" bIns="0" rtlCol="0" anchor="ctr"/>
          <a:lstStyle/>
          <a:p>
            <a:pPr algn="ctr" indent="0" marL="0">
              <a:buNone/>
            </a:pPr>
            <a:r>
              <a:rPr lang="en-US" sz="950" dirty="0">
                <a:solidFill>
                  <a:srgbClr val="9AA7B2"/>
                </a:solidFill>
                <a:latin typeface="Calibri" pitchFamily="34" charset="0"/>
                <a:ea typeface="Calibri" pitchFamily="34" charset="-122"/>
                <a:cs typeface="Calibri" pitchFamily="34" charset="-120"/>
              </a:rPr>
              <a:t>AI Ethics</a:t>
            </a:r>
            <a:endParaRPr lang="en-US" sz="950" dirty="0"/>
          </a:p>
        </p:txBody>
      </p:sp>
      <p:sp>
        <p:nvSpPr>
          <p:cNvPr id="30" name="Text 28"/>
          <p:cNvSpPr/>
          <p:nvPr/>
        </p:nvSpPr>
        <p:spPr>
          <a:xfrm>
            <a:off x="1005840" y="5120640"/>
            <a:ext cx="10149840" cy="822960"/>
          </a:xfrm>
          <a:prstGeom prst="rect">
            <a:avLst/>
          </a:prstGeom>
          <a:noFill/>
          <a:ln/>
        </p:spPr>
        <p:txBody>
          <a:bodyPr wrap="square" lIns="0" tIns="0" rIns="0" bIns="0" rtlCol="0" anchor="ctr"/>
          <a:lstStyle/>
          <a:p>
            <a:pPr indent="0" marL="0">
              <a:buNone/>
            </a:pPr>
            <a:r>
              <a:rPr lang="en-US" sz="1400" i="1" dirty="0">
                <a:solidFill>
                  <a:srgbClr val="5B6B7C"/>
                </a:solidFill>
                <a:latin typeface="Calibri" pitchFamily="34" charset="0"/>
                <a:ea typeface="Calibri" pitchFamily="34" charset="-122"/>
                <a:cs typeface="Calibri" pitchFamily="34" charset="-120"/>
              </a:rPr>
              <a:t>Eight class meetings build from foundational concepts to a team-built, human-reviewed Urban AI Decision-Support Brief. Today's class is highlighted in amber above.</a:t>
            </a:r>
            <a:endParaRPr lang="en-US" sz="1400" dirty="0"/>
          </a:p>
        </p:txBody>
      </p:sp>
      <p:sp>
        <p:nvSpPr>
          <p:cNvPr id="31" name="Text 29"/>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32" name="Text 3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Learning Objectives</a:t>
            </a:r>
            <a:endParaRPr lang="en-US" sz="2800" dirty="0"/>
          </a:p>
        </p:txBody>
      </p:sp>
      <p:sp>
        <p:nvSpPr>
          <p:cNvPr id="4" name="Text 2"/>
          <p:cNvSpPr/>
          <p:nvPr/>
        </p:nvSpPr>
        <p:spPr>
          <a:xfrm>
            <a:off x="640080" y="1143000"/>
            <a:ext cx="10515600" cy="365760"/>
          </a:xfrm>
          <a:prstGeom prst="rect">
            <a:avLst/>
          </a:prstGeom>
          <a:noFill/>
          <a:ln/>
        </p:spPr>
        <p:txBody>
          <a:bodyPr wrap="square" lIns="0" tIns="0" rIns="0" bIns="0" rtlCol="0" anchor="ctr"/>
          <a:lstStyle/>
          <a:p>
            <a:pPr indent="0" marL="0">
              <a:buNone/>
            </a:pPr>
            <a:r>
              <a:rPr lang="en-US" sz="1400" i="1" dirty="0">
                <a:solidFill>
                  <a:srgbClr val="5B6B7C"/>
                </a:solidFill>
                <a:latin typeface="Calibri" pitchFamily="34" charset="0"/>
                <a:ea typeface="Calibri" pitchFamily="34" charset="-122"/>
                <a:cs typeface="Calibri" pitchFamily="34" charset="-120"/>
              </a:rPr>
              <a:t>By the end of this class, you will be able to:</a:t>
            </a:r>
            <a:endParaRPr lang="en-US" sz="1400" dirty="0"/>
          </a:p>
        </p:txBody>
      </p:sp>
      <p:sp>
        <p:nvSpPr>
          <p:cNvPr id="5" name="Shape 3"/>
          <p:cNvSpPr/>
          <p:nvPr/>
        </p:nvSpPr>
        <p:spPr>
          <a:xfrm>
            <a:off x="640080" y="1737360"/>
            <a:ext cx="457200" cy="457200"/>
          </a:xfrm>
          <a:prstGeom prst="ellipse">
            <a:avLst/>
          </a:prstGeom>
          <a:solidFill>
            <a:srgbClr val="132A4C"/>
          </a:solidFill>
          <a:ln/>
        </p:spPr>
      </p:sp>
      <p:sp>
        <p:nvSpPr>
          <p:cNvPr id="6" name="Text 4"/>
          <p:cNvSpPr/>
          <p:nvPr/>
        </p:nvSpPr>
        <p:spPr>
          <a:xfrm>
            <a:off x="6400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325880" y="1691640"/>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Explain, in plain language, what data, features, a model, training, and inference are.</a:t>
            </a:r>
            <a:endParaRPr lang="en-US" sz="1500" dirty="0"/>
          </a:p>
        </p:txBody>
      </p:sp>
      <p:sp>
        <p:nvSpPr>
          <p:cNvPr id="8" name="Shape 6"/>
          <p:cNvSpPr/>
          <p:nvPr/>
        </p:nvSpPr>
        <p:spPr>
          <a:xfrm>
            <a:off x="640080" y="2688336"/>
            <a:ext cx="457200" cy="457200"/>
          </a:xfrm>
          <a:prstGeom prst="ellipse">
            <a:avLst/>
          </a:prstGeom>
          <a:solidFill>
            <a:srgbClr val="132A4C"/>
          </a:solidFill>
          <a:ln/>
        </p:spPr>
      </p:sp>
      <p:sp>
        <p:nvSpPr>
          <p:cNvPr id="9" name="Text 7"/>
          <p:cNvSpPr/>
          <p:nvPr/>
        </p:nvSpPr>
        <p:spPr>
          <a:xfrm>
            <a:off x="640080" y="26883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325880" y="2642616"/>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Distinguish supervised from unsupervised learning and give an urban example of each.</a:t>
            </a:r>
            <a:endParaRPr lang="en-US" sz="1500" dirty="0"/>
          </a:p>
        </p:txBody>
      </p:sp>
      <p:sp>
        <p:nvSpPr>
          <p:cNvPr id="11" name="Shape 9"/>
          <p:cNvSpPr/>
          <p:nvPr/>
        </p:nvSpPr>
        <p:spPr>
          <a:xfrm>
            <a:off x="640080" y="3639312"/>
            <a:ext cx="457200" cy="457200"/>
          </a:xfrm>
          <a:prstGeom prst="ellipse">
            <a:avLst/>
          </a:prstGeom>
          <a:solidFill>
            <a:srgbClr val="132A4C"/>
          </a:solidFill>
          <a:ln/>
        </p:spPr>
      </p:sp>
      <p:sp>
        <p:nvSpPr>
          <p:cNvPr id="12" name="Text 10"/>
          <p:cNvSpPr/>
          <p:nvPr/>
        </p:nvSpPr>
        <p:spPr>
          <a:xfrm>
            <a:off x="640080" y="36393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325880" y="3593592"/>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State clearly what machine learning can and cannot reliably do.</a:t>
            </a:r>
            <a:endParaRPr lang="en-US" sz="1500" dirty="0"/>
          </a:p>
        </p:txBody>
      </p:sp>
      <p:sp>
        <p:nvSpPr>
          <p:cNvPr id="14" name="Shape 12"/>
          <p:cNvSpPr/>
          <p:nvPr/>
        </p:nvSpPr>
        <p:spPr>
          <a:xfrm>
            <a:off x="640080" y="4590288"/>
            <a:ext cx="457200" cy="457200"/>
          </a:xfrm>
          <a:prstGeom prst="ellipse">
            <a:avLst/>
          </a:prstGeom>
          <a:solidFill>
            <a:srgbClr val="132A4C"/>
          </a:solidFill>
          <a:ln/>
        </p:spPr>
      </p:sp>
      <p:sp>
        <p:nvSpPr>
          <p:cNvPr id="15" name="Text 13"/>
          <p:cNvSpPr/>
          <p:nvPr/>
        </p:nvSpPr>
        <p:spPr>
          <a:xfrm>
            <a:off x="640080"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1325880" y="4544568"/>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Explain how large language models differ from traditional predictive machine learning.</a:t>
            </a:r>
            <a:endParaRPr lang="en-US" sz="1500" dirty="0"/>
          </a:p>
        </p:txBody>
      </p:sp>
      <p:sp>
        <p:nvSpPr>
          <p:cNvPr id="17" name="Shape 15"/>
          <p:cNvSpPr/>
          <p:nvPr/>
        </p:nvSpPr>
        <p:spPr>
          <a:xfrm>
            <a:off x="640080" y="5541264"/>
            <a:ext cx="457200" cy="457200"/>
          </a:xfrm>
          <a:prstGeom prst="ellipse">
            <a:avLst/>
          </a:prstGeom>
          <a:solidFill>
            <a:srgbClr val="132A4C"/>
          </a:solidFill>
          <a:ln/>
        </p:spPr>
      </p:sp>
      <p:sp>
        <p:nvSpPr>
          <p:cNvPr id="18" name="Text 16"/>
          <p:cNvSpPr/>
          <p:nvPr/>
        </p:nvSpPr>
        <p:spPr>
          <a:xfrm>
            <a:off x="640080" y="55412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1325880" y="5495544"/>
            <a:ext cx="10149840" cy="877824"/>
          </a:xfrm>
          <a:prstGeom prst="rect">
            <a:avLst/>
          </a:prstGeom>
          <a:noFill/>
          <a:ln/>
        </p:spPr>
        <p:txBody>
          <a:bodyPr wrap="square" lIns="0" tIns="0" rIns="0" bIns="0" rtlCol="0" anchor="ctr"/>
          <a:lstStyle/>
          <a:p>
            <a:pPr indent="0" marL="0">
              <a:buNone/>
            </a:pPr>
            <a:r>
              <a:rPr lang="en-US" sz="1500" dirty="0">
                <a:solidFill>
                  <a:srgbClr val="1B2A3D"/>
                </a:solidFill>
                <a:latin typeface="Calibri" pitchFamily="34" charset="0"/>
                <a:ea typeface="Calibri" pitchFamily="34" charset="-122"/>
                <a:cs typeface="Calibri" pitchFamily="34" charset="-120"/>
              </a:rPr>
              <a:t>Define overfitting and bias in non-technical terms and recognize each in a real example.</a:t>
            </a:r>
            <a:endParaRPr lang="en-US" sz="1500" dirty="0"/>
          </a:p>
        </p:txBody>
      </p:sp>
      <p:sp>
        <p:nvSpPr>
          <p:cNvPr id="20" name="Text 18"/>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21"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Data, Features, and Models</a:t>
            </a:r>
            <a:endParaRPr lang="en-US" sz="2800" dirty="0"/>
          </a:p>
        </p:txBody>
      </p:sp>
      <p:sp>
        <p:nvSpPr>
          <p:cNvPr id="4" name="Text 2"/>
          <p:cNvSpPr/>
          <p:nvPr/>
        </p:nvSpPr>
        <p:spPr>
          <a:xfrm>
            <a:off x="640080" y="1234440"/>
            <a:ext cx="704088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Data is raw recorded observations — a spreadsheet of buildings, permits, or sensor readings.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A feature is one measured characteristic used as an input — for a building, that might be square footage, year built, or neighborhood.</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A model is a function, learned from data, that maps features to an output — for example, predicted energy use or predicted flood risk.</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None of this requires an LLM or anything exotic — it's the same basic pattern behind a simple spreadsheet formula, just learned automatically from examples instead of hand-written.</a:t>
            </a:r>
            <a:endParaRPr lang="en-US" sz="1500" dirty="0"/>
          </a:p>
        </p:txBody>
      </p:sp>
      <p:sp>
        <p:nvSpPr>
          <p:cNvPr id="5" name="Shape 3"/>
          <p:cNvSpPr/>
          <p:nvPr/>
        </p:nvSpPr>
        <p:spPr>
          <a:xfrm>
            <a:off x="8001000" y="1234440"/>
            <a:ext cx="3566160" cy="2103120"/>
          </a:xfrm>
          <a:prstGeom prst="roundRect">
            <a:avLst>
              <a:gd name="adj" fmla="val 3478"/>
            </a:avLst>
          </a:prstGeom>
          <a:solidFill>
            <a:srgbClr val="EEF3F6"/>
          </a:solidFill>
          <a:ln/>
        </p:spPr>
      </p:sp>
      <p:sp>
        <p:nvSpPr>
          <p:cNvPr id="6" name="Text 4"/>
          <p:cNvSpPr/>
          <p:nvPr/>
        </p:nvSpPr>
        <p:spPr>
          <a:xfrm>
            <a:off x="8229600" y="1417320"/>
            <a:ext cx="3108960" cy="320040"/>
          </a:xfrm>
          <a:prstGeom prst="rect">
            <a:avLst/>
          </a:prstGeom>
          <a:noFill/>
          <a:ln/>
        </p:spPr>
        <p:txBody>
          <a:bodyPr wrap="square" lIns="0" tIns="0" rIns="0" bIns="0" rtlCol="0" anchor="ctr"/>
          <a:lstStyle/>
          <a:p>
            <a:pPr indent="0" marL="0">
              <a:buNone/>
            </a:pPr>
            <a:r>
              <a:rPr lang="en-US" sz="1100" b="1" spc="100" kern="0" dirty="0">
                <a:solidFill>
                  <a:srgbClr val="1E7A8C"/>
                </a:solidFill>
                <a:latin typeface="Calibri" pitchFamily="34" charset="0"/>
                <a:ea typeface="Calibri" pitchFamily="34" charset="-122"/>
                <a:cs typeface="Calibri" pitchFamily="34" charset="-120"/>
              </a:rPr>
              <a:t>PLAIN LANGUAGE</a:t>
            </a:r>
            <a:endParaRPr lang="en-US" sz="1100" dirty="0"/>
          </a:p>
        </p:txBody>
      </p:sp>
      <p:sp>
        <p:nvSpPr>
          <p:cNvPr id="7" name="Text 5"/>
          <p:cNvSpPr/>
          <p:nvPr/>
        </p:nvSpPr>
        <p:spPr>
          <a:xfrm>
            <a:off x="8229600" y="1783080"/>
            <a:ext cx="3108960" cy="1508760"/>
          </a:xfrm>
          <a:prstGeom prst="rect">
            <a:avLst/>
          </a:prstGeom>
          <a:noFill/>
          <a:ln/>
        </p:spPr>
        <p:txBody>
          <a:bodyPr wrap="square" lIns="0" tIns="0" rIns="0" bIns="0" rtlCol="0" anchor="t"/>
          <a:lstStyle/>
          <a:p>
            <a:pPr indent="0" marL="0">
              <a:lnSpc>
                <a:spcPct val="115000"/>
              </a:lnSpc>
              <a:buNone/>
            </a:pPr>
            <a:r>
              <a:rPr lang="en-US" sz="1400" i="1" dirty="0">
                <a:solidFill>
                  <a:srgbClr val="132A4C"/>
                </a:solidFill>
                <a:latin typeface="Cambria" pitchFamily="34" charset="0"/>
                <a:ea typeface="Cambria" pitchFamily="34" charset="-122"/>
                <a:cs typeface="Cambria" pitchFamily="34" charset="-120"/>
              </a:rPr>
              <a:t>Features in → Model → Prediction out. That's the whole shape of most machine learning.</a:t>
            </a:r>
            <a:endParaRPr lang="en-US" sz="14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9"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Training vs. Inference</a:t>
            </a:r>
            <a:endParaRPr lang="en-US" sz="2800" dirty="0"/>
          </a:p>
        </p:txBody>
      </p:sp>
      <p:sp>
        <p:nvSpPr>
          <p:cNvPr id="4" name="Text 2"/>
          <p:cNvSpPr/>
          <p:nvPr/>
        </p:nvSpPr>
        <p:spPr>
          <a:xfrm>
            <a:off x="640080" y="1234440"/>
            <a:ext cx="1051560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Training is the process of showing the model many labeled examples so it can adjust itself to find patterns — this happens once (or periodically), and is often the expensive, slow step.</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Inference is using the already-trained model to make a prediction on new, unseen data — this happens every time the tool is used, and is typically fast.</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A common confusion: a model doesn't 'think' during inference — it applies the pattern it learned during training, for better or worse.</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If the world changes after training (new zoning rules, a pandemic, a new neighborhood), the model doesn't automatically know — this is called data drift, and it's a recurring theme in Class 3-2.</a:t>
            </a:r>
            <a:endParaRPr lang="en-US" sz="1500" dirty="0"/>
          </a:p>
        </p:txBody>
      </p:sp>
      <p:sp>
        <p:nvSpPr>
          <p:cNvPr id="5" name="Text 3"/>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6" name="Text 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Supervised vs. Unsupervised Learning</a:t>
            </a:r>
            <a:endParaRPr lang="en-US" sz="2800" dirty="0"/>
          </a:p>
        </p:txBody>
      </p:sp>
      <p:sp>
        <p:nvSpPr>
          <p:cNvPr id="4" name="Text 2"/>
          <p:cNvSpPr/>
          <p:nvPr/>
        </p:nvSpPr>
        <p:spPr>
          <a:xfrm>
            <a:off x="640080" y="1234440"/>
            <a:ext cx="704088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Supervised learning uses labeled examples — you give the model input features and the known correct answer, and it learns to predict that answer for new cases. Example: predicting flood risk for a census tract from its elevation, drainage, and historical flood records.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Unsupervised learning finds structure in data with no provided answer key — it groups similar things together. Example: clustering neighborhoods by ACS indicators (income, housing age, density) into typologies, which is exactly what Lab 2 does.</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Rule of thumb: if you have a target you're trying to predict, it's supervised; if you're trying to discover groups or patterns, it's unsupervised.</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Most real urban-AI projects use both in sequence — cluster first to understand structure, then predict within or across clusters.</a:t>
            </a:r>
            <a:endParaRPr lang="en-US" sz="1500" dirty="0"/>
          </a:p>
        </p:txBody>
      </p:sp>
      <p:sp>
        <p:nvSpPr>
          <p:cNvPr id="5" name="Shape 3"/>
          <p:cNvSpPr/>
          <p:nvPr/>
        </p:nvSpPr>
        <p:spPr>
          <a:xfrm>
            <a:off x="8001000" y="1234440"/>
            <a:ext cx="3566160" cy="2103120"/>
          </a:xfrm>
          <a:prstGeom prst="roundRect">
            <a:avLst>
              <a:gd name="adj" fmla="val 3478"/>
            </a:avLst>
          </a:prstGeom>
          <a:solidFill>
            <a:srgbClr val="EEF3F6"/>
          </a:solidFill>
          <a:ln/>
        </p:spPr>
      </p:sp>
      <p:sp>
        <p:nvSpPr>
          <p:cNvPr id="6" name="Text 4"/>
          <p:cNvSpPr/>
          <p:nvPr/>
        </p:nvSpPr>
        <p:spPr>
          <a:xfrm>
            <a:off x="8229600" y="1417320"/>
            <a:ext cx="3108960" cy="320040"/>
          </a:xfrm>
          <a:prstGeom prst="rect">
            <a:avLst/>
          </a:prstGeom>
          <a:noFill/>
          <a:ln/>
        </p:spPr>
        <p:txBody>
          <a:bodyPr wrap="square" lIns="0" tIns="0" rIns="0" bIns="0" rtlCol="0" anchor="ctr"/>
          <a:lstStyle/>
          <a:p>
            <a:pPr indent="0" marL="0">
              <a:buNone/>
            </a:pPr>
            <a:r>
              <a:rPr lang="en-US" sz="1100" b="1" spc="100" kern="0" dirty="0">
                <a:solidFill>
                  <a:srgbClr val="1E7A8C"/>
                </a:solidFill>
                <a:latin typeface="Calibri" pitchFamily="34" charset="0"/>
                <a:ea typeface="Calibri" pitchFamily="34" charset="-122"/>
                <a:cs typeface="Calibri" pitchFamily="34" charset="-120"/>
              </a:rPr>
              <a:t>QUICK TEST</a:t>
            </a:r>
            <a:endParaRPr lang="en-US" sz="1100" dirty="0"/>
          </a:p>
        </p:txBody>
      </p:sp>
      <p:sp>
        <p:nvSpPr>
          <p:cNvPr id="7" name="Text 5"/>
          <p:cNvSpPr/>
          <p:nvPr/>
        </p:nvSpPr>
        <p:spPr>
          <a:xfrm>
            <a:off x="8229600" y="1783080"/>
            <a:ext cx="3108960" cy="1508760"/>
          </a:xfrm>
          <a:prstGeom prst="rect">
            <a:avLst/>
          </a:prstGeom>
          <a:noFill/>
          <a:ln/>
        </p:spPr>
        <p:txBody>
          <a:bodyPr wrap="square" lIns="0" tIns="0" rIns="0" bIns="0" rtlCol="0" anchor="t"/>
          <a:lstStyle/>
          <a:p>
            <a:pPr indent="0" marL="0">
              <a:lnSpc>
                <a:spcPct val="115000"/>
              </a:lnSpc>
              <a:buNone/>
            </a:pPr>
            <a:r>
              <a:rPr lang="en-US" sz="1400" i="1" dirty="0">
                <a:solidFill>
                  <a:srgbClr val="132A4C"/>
                </a:solidFill>
                <a:latin typeface="Cambria" pitchFamily="34" charset="0"/>
                <a:ea typeface="Cambria" pitchFamily="34" charset="-122"/>
                <a:cs typeface="Cambria" pitchFamily="34" charset="-120"/>
              </a:rPr>
              <a:t>Do I already have the 'right answer' in my data? Yes → supervised. No → unsupervised.</a:t>
            </a:r>
            <a:endParaRPr lang="en-US" sz="14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9"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32A4C"/>
          </a:solidFill>
          <a:ln/>
        </p:spPr>
      </p:sp>
      <p:sp>
        <p:nvSpPr>
          <p:cNvPr id="3" name="Text 1"/>
          <p:cNvSpPr/>
          <p:nvPr/>
        </p:nvSpPr>
        <p:spPr>
          <a:xfrm>
            <a:off x="640080" y="256032"/>
            <a:ext cx="36576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CASE STUDY</a:t>
            </a:r>
            <a:endParaRPr lang="en-US" sz="1200" dirty="0"/>
          </a:p>
        </p:txBody>
      </p:sp>
      <p:sp>
        <p:nvSpPr>
          <p:cNvPr id="4" name="Text 2"/>
          <p:cNvSpPr/>
          <p:nvPr/>
        </p:nvSpPr>
        <p:spPr>
          <a:xfrm>
            <a:off x="640080" y="566928"/>
            <a:ext cx="10881360" cy="7772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Chicago — Food Inspection Forecasting</a:t>
            </a:r>
            <a:endParaRPr lang="en-US" sz="2400" dirty="0"/>
          </a:p>
        </p:txBody>
      </p:sp>
      <p:sp>
        <p:nvSpPr>
          <p:cNvPr id="5" name="Text 3"/>
          <p:cNvSpPr/>
          <p:nvPr/>
        </p:nvSpPr>
        <p:spPr>
          <a:xfrm>
            <a:off x="640080" y="1737360"/>
            <a:ext cx="6949440" cy="411480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Chicago's Department of Public Health, working with the city's Department of Innovation and Technology, built a supervised machine-learning model to help prioritize which restaurants to inspect next, using features like violation history, complaint history, and inspection timing.</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The goal was not to replace inspectors but to help a limited inspection staff find likely violations sooner, catching food-safety problems earlier than a purely random or fixed rotation schedule.</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It's a clean, well-documented example of supervised learning applied to a real municipal operations problem, and the city published its methodology openly.</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It illustrates a recurring pattern in this course: AI-DSS tools most often reorder or prioritize existing human workflows rather than replacing them outright.</a:t>
            </a:r>
            <a:endParaRPr lang="en-US" sz="1450" dirty="0"/>
          </a:p>
        </p:txBody>
      </p:sp>
      <p:sp>
        <p:nvSpPr>
          <p:cNvPr id="6" name="Shape 4"/>
          <p:cNvSpPr/>
          <p:nvPr/>
        </p:nvSpPr>
        <p:spPr>
          <a:xfrm>
            <a:off x="7863840" y="1737360"/>
            <a:ext cx="3703320" cy="3931920"/>
          </a:xfrm>
          <a:prstGeom prst="roundRect">
            <a:avLst>
              <a:gd name="adj" fmla="val 1975"/>
            </a:avLst>
          </a:prstGeom>
          <a:solidFill>
            <a:srgbClr val="FCEFDC"/>
          </a:solidFill>
          <a:ln/>
        </p:spPr>
      </p:sp>
      <p:sp>
        <p:nvSpPr>
          <p:cNvPr id="7" name="Text 5"/>
          <p:cNvSpPr/>
          <p:nvPr/>
        </p:nvSpPr>
        <p:spPr>
          <a:xfrm>
            <a:off x="8092440" y="1920240"/>
            <a:ext cx="3291840" cy="320040"/>
          </a:xfrm>
          <a:prstGeom prst="rect">
            <a:avLst/>
          </a:prstGeom>
          <a:noFill/>
          <a:ln/>
        </p:spPr>
        <p:txBody>
          <a:bodyPr wrap="square" lIns="0" tIns="0" rIns="0" bIns="0" rtlCol="0" anchor="ctr"/>
          <a:lstStyle/>
          <a:p>
            <a:pPr indent="0" marL="0">
              <a:buNone/>
            </a:pPr>
            <a:r>
              <a:rPr lang="en-US" sz="1100" b="1" spc="100" kern="0" dirty="0">
                <a:solidFill>
                  <a:srgbClr val="8A5A12"/>
                </a:solidFill>
                <a:latin typeface="Calibri" pitchFamily="34" charset="0"/>
                <a:ea typeface="Calibri" pitchFamily="34" charset="-122"/>
                <a:cs typeface="Calibri" pitchFamily="34" charset="-120"/>
              </a:rPr>
              <a:t>WHY IT MATTERS</a:t>
            </a:r>
            <a:endParaRPr lang="en-US" sz="1100" dirty="0"/>
          </a:p>
        </p:txBody>
      </p:sp>
      <p:sp>
        <p:nvSpPr>
          <p:cNvPr id="8" name="Text 6"/>
          <p:cNvSpPr/>
          <p:nvPr/>
        </p:nvSpPr>
        <p:spPr>
          <a:xfrm>
            <a:off x="8092440" y="2286000"/>
            <a:ext cx="3246120" cy="3200400"/>
          </a:xfrm>
          <a:prstGeom prst="rect">
            <a:avLst/>
          </a:prstGeom>
          <a:noFill/>
          <a:ln/>
        </p:spPr>
        <p:txBody>
          <a:bodyPr wrap="square" lIns="0" tIns="0" rIns="0" bIns="0" rtlCol="0" anchor="t"/>
          <a:lstStyle/>
          <a:p>
            <a:pPr indent="0" marL="0">
              <a:lnSpc>
                <a:spcPct val="120000"/>
              </a:lnSpc>
              <a:buNone/>
            </a:pPr>
            <a:r>
              <a:rPr lang="en-US" sz="1350" dirty="0">
                <a:solidFill>
                  <a:srgbClr val="1B2A3D"/>
                </a:solidFill>
                <a:latin typeface="Calibri" pitchFamily="34" charset="0"/>
                <a:ea typeface="Calibri" pitchFamily="34" charset="-122"/>
                <a:cs typeface="Calibri" pitchFamily="34" charset="-120"/>
              </a:rPr>
              <a:t>This shows machine learning doing something genuinely useful and well-scoped: a narrow, well-defined prediction (likely violation) feeding a human process (inspection scheduling) that stayed under human control throughout.</a:t>
            </a:r>
            <a:endParaRPr lang="en-US" sz="1350" dirty="0"/>
          </a:p>
        </p:txBody>
      </p:sp>
      <p:sp>
        <p:nvSpPr>
          <p:cNvPr id="9" name="Text 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10" name="Text 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32A4C"/>
          </a:solidFill>
          <a:ln/>
        </p:spPr>
      </p:sp>
      <p:sp>
        <p:nvSpPr>
          <p:cNvPr id="3" name="Text 1"/>
          <p:cNvSpPr/>
          <p:nvPr/>
        </p:nvSpPr>
        <p:spPr>
          <a:xfrm>
            <a:off x="640080" y="256032"/>
            <a:ext cx="36576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CASE STUDY</a:t>
            </a:r>
            <a:endParaRPr lang="en-US" sz="1200" dirty="0"/>
          </a:p>
        </p:txBody>
      </p:sp>
      <p:sp>
        <p:nvSpPr>
          <p:cNvPr id="4" name="Text 2"/>
          <p:cNvSpPr/>
          <p:nvPr/>
        </p:nvSpPr>
        <p:spPr>
          <a:xfrm>
            <a:off x="640080" y="566928"/>
            <a:ext cx="10881360" cy="7772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Zillow — The Zestimate and the iBuying Failure</a:t>
            </a:r>
            <a:endParaRPr lang="en-US" sz="2400" dirty="0"/>
          </a:p>
        </p:txBody>
      </p:sp>
      <p:sp>
        <p:nvSpPr>
          <p:cNvPr id="5" name="Text 3"/>
          <p:cNvSpPr/>
          <p:nvPr/>
        </p:nvSpPr>
        <p:spPr>
          <a:xfrm>
            <a:off x="640080" y="1737360"/>
            <a:ext cx="6949440" cy="411480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Zillow's Zestimate is a widely used supervised model that predicts a home's market value from features like size, location, comparable sales, and condition — a familiar, real-world regression problem.</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Zillow then built a business, Zillow Offers, that used similar automated price models to make instant cash offers on homes at scale — essentially betting real money on the model's predictions in a fast-moving 2021 housing market.</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In November 2021 Zillow shut the program down after its pricing models proved unreliable amid rapidly shifting market conditions, taking significant financial losses and cutting staff.</a:t>
            </a:r>
            <a:endParaRPr lang="en-US" sz="1450" dirty="0"/>
          </a:p>
          <a:p>
            <a:pPr marL="228600" indent="-228600">
              <a:lnSpc>
                <a:spcPct val="112000"/>
              </a:lnSpc>
              <a:spcAft>
                <a:spcPts val="1200"/>
              </a:spcAft>
              <a:buSzPct val="100000"/>
              <a:buChar char="■"/>
            </a:pPr>
            <a:r>
              <a:rPr lang="en-US" sz="1450" dirty="0">
                <a:solidFill>
                  <a:srgbClr val="1B2A3D"/>
                </a:solidFill>
                <a:latin typeface="Calibri" pitchFamily="34" charset="0"/>
                <a:ea typeface="Calibri" pitchFamily="34" charset="-122"/>
                <a:cs typeface="Calibri" pitchFamily="34" charset="-120"/>
              </a:rPr>
              <a:t>The core lesson: a model that performs well for *informational* estimates can still be unsafe for *high-stakes automated action* without the right guardrails and human review.</a:t>
            </a:r>
            <a:endParaRPr lang="en-US" sz="1450" dirty="0"/>
          </a:p>
        </p:txBody>
      </p:sp>
      <p:sp>
        <p:nvSpPr>
          <p:cNvPr id="6" name="Shape 4"/>
          <p:cNvSpPr/>
          <p:nvPr/>
        </p:nvSpPr>
        <p:spPr>
          <a:xfrm>
            <a:off x="7863840" y="1737360"/>
            <a:ext cx="3703320" cy="3931920"/>
          </a:xfrm>
          <a:prstGeom prst="roundRect">
            <a:avLst>
              <a:gd name="adj" fmla="val 1975"/>
            </a:avLst>
          </a:prstGeom>
          <a:solidFill>
            <a:srgbClr val="FCEFDC"/>
          </a:solidFill>
          <a:ln/>
        </p:spPr>
      </p:sp>
      <p:sp>
        <p:nvSpPr>
          <p:cNvPr id="7" name="Text 5"/>
          <p:cNvSpPr/>
          <p:nvPr/>
        </p:nvSpPr>
        <p:spPr>
          <a:xfrm>
            <a:off x="8092440" y="1920240"/>
            <a:ext cx="3291840" cy="320040"/>
          </a:xfrm>
          <a:prstGeom prst="rect">
            <a:avLst/>
          </a:prstGeom>
          <a:noFill/>
          <a:ln/>
        </p:spPr>
        <p:txBody>
          <a:bodyPr wrap="square" lIns="0" tIns="0" rIns="0" bIns="0" rtlCol="0" anchor="ctr"/>
          <a:lstStyle/>
          <a:p>
            <a:pPr indent="0" marL="0">
              <a:buNone/>
            </a:pPr>
            <a:r>
              <a:rPr lang="en-US" sz="1100" b="1" spc="100" kern="0" dirty="0">
                <a:solidFill>
                  <a:srgbClr val="8A5A12"/>
                </a:solidFill>
                <a:latin typeface="Calibri" pitchFamily="34" charset="0"/>
                <a:ea typeface="Calibri" pitchFamily="34" charset="-122"/>
                <a:cs typeface="Calibri" pitchFamily="34" charset="-120"/>
              </a:rPr>
              <a:t>WHY IT MATTERS</a:t>
            </a:r>
            <a:endParaRPr lang="en-US" sz="1100" dirty="0"/>
          </a:p>
        </p:txBody>
      </p:sp>
      <p:sp>
        <p:nvSpPr>
          <p:cNvPr id="8" name="Text 6"/>
          <p:cNvSpPr/>
          <p:nvPr/>
        </p:nvSpPr>
        <p:spPr>
          <a:xfrm>
            <a:off x="8092440" y="2286000"/>
            <a:ext cx="3246120" cy="3200400"/>
          </a:xfrm>
          <a:prstGeom prst="rect">
            <a:avLst/>
          </a:prstGeom>
          <a:noFill/>
          <a:ln/>
        </p:spPr>
        <p:txBody>
          <a:bodyPr wrap="square" lIns="0" tIns="0" rIns="0" bIns="0" rtlCol="0" anchor="t"/>
          <a:lstStyle/>
          <a:p>
            <a:pPr indent="0" marL="0">
              <a:lnSpc>
                <a:spcPct val="120000"/>
              </a:lnSpc>
              <a:buNone/>
            </a:pPr>
            <a:r>
              <a:rPr lang="en-US" sz="1350" dirty="0">
                <a:solidFill>
                  <a:srgbClr val="1B2A3D"/>
                </a:solidFill>
                <a:latin typeface="Calibri" pitchFamily="34" charset="0"/>
                <a:ea typeface="Calibri" pitchFamily="34" charset="-122"/>
                <a:cs typeface="Calibri" pitchFamily="34" charset="-120"/>
              </a:rPr>
              <a:t>This is a rare, well-documented case of a sophisticated, well-resourced company over-trusting its own model in a fast-changing environment — exactly the failure mode this course asks you to design against.</a:t>
            </a:r>
            <a:endParaRPr lang="en-US" sz="1350" dirty="0"/>
          </a:p>
        </p:txBody>
      </p:sp>
      <p:sp>
        <p:nvSpPr>
          <p:cNvPr id="9" name="Text 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10" name="Text 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What Machine Learning Can and Cannot Do</a:t>
            </a:r>
            <a:endParaRPr lang="en-US" sz="2800" dirty="0"/>
          </a:p>
        </p:txBody>
      </p:sp>
      <p:sp>
        <p:nvSpPr>
          <p:cNvPr id="4" name="Text 2"/>
          <p:cNvSpPr/>
          <p:nvPr/>
        </p:nvSpPr>
        <p:spPr>
          <a:xfrm>
            <a:off x="640080" y="1234440"/>
            <a:ext cx="1051560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Can: find statistical patterns in historical, structured data, and generalize them to similar new cases reasonably well.</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Can: process far more data, far faster, than a human reviewing it manually.</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Cannot: reliably understand causation just from correlation — a model can find that two things move together without knowing why.</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Cannot: guarantee fairness on its own — without deliberate design and auditing, it will reproduce patterns (including biased ones) present in its training data.</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Cannot: reliably handle situations meaningfully different from what it was trained on.</a:t>
            </a:r>
            <a:endParaRPr lang="en-US" sz="1500" dirty="0"/>
          </a:p>
        </p:txBody>
      </p:sp>
      <p:sp>
        <p:nvSpPr>
          <p:cNvPr id="5" name="Text 3"/>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6" name="Text 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1E7A8C"/>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How LLMs Are Different</a:t>
            </a:r>
            <a:endParaRPr lang="en-US" sz="2800" dirty="0"/>
          </a:p>
        </p:txBody>
      </p:sp>
      <p:sp>
        <p:nvSpPr>
          <p:cNvPr id="4" name="Text 2"/>
          <p:cNvSpPr/>
          <p:nvPr/>
        </p:nvSpPr>
        <p:spPr>
          <a:xfrm>
            <a:off x="640080" y="1234440"/>
            <a:ext cx="7040880" cy="4937760"/>
          </a:xfrm>
          <a:prstGeom prst="rect">
            <a:avLst/>
          </a:prstGeom>
          <a:noFill/>
          <a:ln/>
        </p:spPr>
        <p:txBody>
          <a:bodyPr wrap="square" lIns="0" tIns="0" rIns="0" bIns="0" rtlCol="0" anchor="t"/>
          <a:lstStyle/>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Traditional ML (like the Zestimate or the Chicago inspection model) is trained for one narrow, predictive task using hand-selected features and a specific labeled dataset.</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A large language model (LLM) is trained on enormous amounts of text to predict the next word/token, giving it broad, general-purpose language ability rather than one narrow skill.</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You don't hand-engineer features for an LLM the way you would a regression model — you interact with it through prompts, and it can perform many different tasks with the same underlying model.</a:t>
            </a:r>
            <a:endParaRPr lang="en-US" sz="1500" dirty="0"/>
          </a:p>
          <a:p>
            <a:pPr marL="228600" indent="-228600">
              <a:lnSpc>
                <a:spcPct val="112000"/>
              </a:lnSpc>
              <a:spcAft>
                <a:spcPts val="1200"/>
              </a:spcAft>
              <a:buSzPct val="100000"/>
              <a:buChar char="■"/>
            </a:pPr>
            <a:r>
              <a:rPr lang="en-US" sz="1500" dirty="0">
                <a:solidFill>
                  <a:srgbClr val="1B2A3D"/>
                </a:solidFill>
                <a:latin typeface="Calibri" pitchFamily="34" charset="0"/>
                <a:ea typeface="Calibri" pitchFamily="34" charset="-122"/>
                <a:cs typeface="Calibri" pitchFamily="34" charset="-120"/>
              </a:rPr>
              <a:t>That flexibility is also the risk: an LLM can sound equally confident whether it is right or wrong, because fluency and accuracy are not the same thing.</a:t>
            </a:r>
            <a:endParaRPr lang="en-US" sz="1500" dirty="0"/>
          </a:p>
        </p:txBody>
      </p:sp>
      <p:sp>
        <p:nvSpPr>
          <p:cNvPr id="5" name="Shape 3"/>
          <p:cNvSpPr/>
          <p:nvPr/>
        </p:nvSpPr>
        <p:spPr>
          <a:xfrm>
            <a:off x="8001000" y="1234440"/>
            <a:ext cx="3566160" cy="2103120"/>
          </a:xfrm>
          <a:prstGeom prst="roundRect">
            <a:avLst>
              <a:gd name="adj" fmla="val 3478"/>
            </a:avLst>
          </a:prstGeom>
          <a:solidFill>
            <a:srgbClr val="EEF3F6"/>
          </a:solidFill>
          <a:ln/>
        </p:spPr>
      </p:sp>
      <p:sp>
        <p:nvSpPr>
          <p:cNvPr id="6" name="Text 4"/>
          <p:cNvSpPr/>
          <p:nvPr/>
        </p:nvSpPr>
        <p:spPr>
          <a:xfrm>
            <a:off x="8229600" y="1417320"/>
            <a:ext cx="3108960" cy="320040"/>
          </a:xfrm>
          <a:prstGeom prst="rect">
            <a:avLst/>
          </a:prstGeom>
          <a:noFill/>
          <a:ln/>
        </p:spPr>
        <p:txBody>
          <a:bodyPr wrap="square" lIns="0" tIns="0" rIns="0" bIns="0" rtlCol="0" anchor="ctr"/>
          <a:lstStyle/>
          <a:p>
            <a:pPr indent="0" marL="0">
              <a:buNone/>
            </a:pPr>
            <a:r>
              <a:rPr lang="en-US" sz="1100" b="1" spc="100" kern="0" dirty="0">
                <a:solidFill>
                  <a:srgbClr val="1E7A8C"/>
                </a:solidFill>
                <a:latin typeface="Calibri" pitchFamily="34" charset="0"/>
                <a:ea typeface="Calibri" pitchFamily="34" charset="-122"/>
                <a:cs typeface="Calibri" pitchFamily="34" charset="-120"/>
              </a:rPr>
              <a:t>KEY DISTINCTION</a:t>
            </a:r>
            <a:endParaRPr lang="en-US" sz="1100" dirty="0"/>
          </a:p>
        </p:txBody>
      </p:sp>
      <p:sp>
        <p:nvSpPr>
          <p:cNvPr id="7" name="Text 5"/>
          <p:cNvSpPr/>
          <p:nvPr/>
        </p:nvSpPr>
        <p:spPr>
          <a:xfrm>
            <a:off x="8229600" y="1783080"/>
            <a:ext cx="3108960" cy="1508760"/>
          </a:xfrm>
          <a:prstGeom prst="rect">
            <a:avLst/>
          </a:prstGeom>
          <a:noFill/>
          <a:ln/>
        </p:spPr>
        <p:txBody>
          <a:bodyPr wrap="square" lIns="0" tIns="0" rIns="0" bIns="0" rtlCol="0" anchor="t"/>
          <a:lstStyle/>
          <a:p>
            <a:pPr indent="0" marL="0">
              <a:lnSpc>
                <a:spcPct val="115000"/>
              </a:lnSpc>
              <a:buNone/>
            </a:pPr>
            <a:r>
              <a:rPr lang="en-US" sz="1400" i="1" dirty="0">
                <a:solidFill>
                  <a:srgbClr val="132A4C"/>
                </a:solidFill>
                <a:latin typeface="Cambria" pitchFamily="34" charset="0"/>
                <a:ea typeface="Cambria" pitchFamily="34" charset="-122"/>
                <a:cs typeface="Cambria" pitchFamily="34" charset="-120"/>
              </a:rPr>
              <a:t>Traditional ML predicts a value. An LLM generates plausible language — which is not the same as generating verified facts.</a:t>
            </a:r>
            <a:endParaRPr lang="en-US" sz="1400" dirty="0"/>
          </a:p>
        </p:txBody>
      </p:sp>
      <p:sp>
        <p:nvSpPr>
          <p:cNvPr id="8" name="Text 6"/>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9"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Worked Example: Spotting Overfitting</a:t>
            </a:r>
            <a:endParaRPr lang="en-US" sz="2800" dirty="0"/>
          </a:p>
        </p:txBody>
      </p:sp>
      <p:sp>
        <p:nvSpPr>
          <p:cNvPr id="4" name="Shape 2"/>
          <p:cNvSpPr/>
          <p:nvPr/>
        </p:nvSpPr>
        <p:spPr>
          <a:xfrm>
            <a:off x="640080" y="1307592"/>
            <a:ext cx="402336" cy="402336"/>
          </a:xfrm>
          <a:prstGeom prst="ellipse">
            <a:avLst/>
          </a:prstGeom>
          <a:solidFill>
            <a:srgbClr val="132A4C"/>
          </a:solidFill>
          <a:ln/>
        </p:spPr>
      </p:sp>
      <p:sp>
        <p:nvSpPr>
          <p:cNvPr id="5" name="Text 3"/>
          <p:cNvSpPr/>
          <p:nvPr/>
        </p:nvSpPr>
        <p:spPr>
          <a:xfrm>
            <a:off x="640080" y="13075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34440" y="1280160"/>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Imagine a model trained to predict building energy use, tested only on the same 50 buildings it was trained on — it scores nearly perfectly.</a:t>
            </a:r>
            <a:endParaRPr lang="en-US" sz="1400" dirty="0"/>
          </a:p>
        </p:txBody>
      </p:sp>
      <p:sp>
        <p:nvSpPr>
          <p:cNvPr id="7" name="Shape 5"/>
          <p:cNvSpPr/>
          <p:nvPr/>
        </p:nvSpPr>
        <p:spPr>
          <a:xfrm>
            <a:off x="640080" y="2304288"/>
            <a:ext cx="402336" cy="402336"/>
          </a:xfrm>
          <a:prstGeom prst="ellipse">
            <a:avLst/>
          </a:prstGeom>
          <a:solidFill>
            <a:srgbClr val="132A4C"/>
          </a:solidFill>
          <a:ln/>
        </p:spPr>
      </p:sp>
      <p:sp>
        <p:nvSpPr>
          <p:cNvPr id="8" name="Text 6"/>
          <p:cNvSpPr/>
          <p:nvPr/>
        </p:nvSpPr>
        <p:spPr>
          <a:xfrm>
            <a:off x="640080" y="23042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234440" y="2276856"/>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Now test it on 50 new, unseen buildings — its error jumps sharply.</a:t>
            </a:r>
            <a:endParaRPr lang="en-US" sz="1400" dirty="0"/>
          </a:p>
        </p:txBody>
      </p:sp>
      <p:sp>
        <p:nvSpPr>
          <p:cNvPr id="10" name="Shape 8"/>
          <p:cNvSpPr/>
          <p:nvPr/>
        </p:nvSpPr>
        <p:spPr>
          <a:xfrm>
            <a:off x="640080" y="3300984"/>
            <a:ext cx="402336" cy="402336"/>
          </a:xfrm>
          <a:prstGeom prst="ellipse">
            <a:avLst/>
          </a:prstGeom>
          <a:solidFill>
            <a:srgbClr val="132A4C"/>
          </a:solidFill>
          <a:ln/>
        </p:spPr>
      </p:sp>
      <p:sp>
        <p:nvSpPr>
          <p:cNvPr id="11" name="Text 9"/>
          <p:cNvSpPr/>
          <p:nvPr/>
        </p:nvSpPr>
        <p:spPr>
          <a:xfrm>
            <a:off x="640080" y="3300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234440" y="3273552"/>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That gap is overfitting: the model memorized quirks of the training buildings (maybe one had an unusual HVAC schedule) rather than learning the general relationship between building features and energy use.</a:t>
            </a:r>
            <a:endParaRPr lang="en-US" sz="1400" dirty="0"/>
          </a:p>
        </p:txBody>
      </p:sp>
      <p:sp>
        <p:nvSpPr>
          <p:cNvPr id="13" name="Shape 11"/>
          <p:cNvSpPr/>
          <p:nvPr/>
        </p:nvSpPr>
        <p:spPr>
          <a:xfrm>
            <a:off x="640080" y="4297680"/>
            <a:ext cx="402336" cy="402336"/>
          </a:xfrm>
          <a:prstGeom prst="ellipse">
            <a:avLst/>
          </a:prstGeom>
          <a:solidFill>
            <a:srgbClr val="132A4C"/>
          </a:solidFill>
          <a:ln/>
        </p:spPr>
      </p:sp>
      <p:sp>
        <p:nvSpPr>
          <p:cNvPr id="14" name="Text 12"/>
          <p:cNvSpPr/>
          <p:nvPr/>
        </p:nvSpPr>
        <p:spPr>
          <a:xfrm>
            <a:off x="640080" y="4297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234440" y="4270248"/>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The fix is not more clever math first — it's process: always evaluate on data the model has never seen, and be suspicious of results that look too good.</a:t>
            </a:r>
            <a:endParaRPr lang="en-US" sz="1400" dirty="0"/>
          </a:p>
        </p:txBody>
      </p:sp>
      <p:sp>
        <p:nvSpPr>
          <p:cNvPr id="16" name="Shape 14"/>
          <p:cNvSpPr/>
          <p:nvPr/>
        </p:nvSpPr>
        <p:spPr>
          <a:xfrm>
            <a:off x="640080" y="5294376"/>
            <a:ext cx="402336" cy="402336"/>
          </a:xfrm>
          <a:prstGeom prst="ellipse">
            <a:avLst/>
          </a:prstGeom>
          <a:solidFill>
            <a:srgbClr val="132A4C"/>
          </a:solidFill>
          <a:ln/>
        </p:spPr>
      </p:sp>
      <p:sp>
        <p:nvSpPr>
          <p:cNvPr id="17" name="Text 15"/>
          <p:cNvSpPr/>
          <p:nvPr/>
        </p:nvSpPr>
        <p:spPr>
          <a:xfrm>
            <a:off x="640080" y="52943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234440" y="5266944"/>
            <a:ext cx="10241280" cy="941832"/>
          </a:xfrm>
          <a:prstGeom prst="rect">
            <a:avLst/>
          </a:prstGeom>
          <a:noFill/>
          <a:ln/>
        </p:spPr>
        <p:txBody>
          <a:bodyPr wrap="square" lIns="0" tIns="0" rIns="0" bIns="0" rtlCol="0" anchor="ctr"/>
          <a:lstStyle/>
          <a:p>
            <a:pPr indent="0" marL="0">
              <a:lnSpc>
                <a:spcPct val="110000"/>
              </a:lnSpc>
              <a:buNone/>
            </a:pPr>
            <a:r>
              <a:rPr lang="en-US" sz="1400" dirty="0">
                <a:solidFill>
                  <a:srgbClr val="1B2A3D"/>
                </a:solidFill>
                <a:latin typeface="Calibri" pitchFamily="34" charset="0"/>
                <a:ea typeface="Calibri" pitchFamily="34" charset="-122"/>
                <a:cs typeface="Calibri" pitchFamily="34" charset="-120"/>
              </a:rPr>
              <a:t>This is exactly why Lab 4 (Classification) asks you to look at subgroup error rates, not just one overall accuracy number — a good overall score can hide poor performance for one subgroup.</a:t>
            </a:r>
            <a:endParaRPr lang="en-US" sz="1400" dirty="0"/>
          </a:p>
        </p:txBody>
      </p:sp>
      <p:sp>
        <p:nvSpPr>
          <p:cNvPr id="19" name="Text 17"/>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20" name="Text 1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Misconceptions: Bias and Overfitting</a:t>
            </a:r>
            <a:endParaRPr lang="en-US" sz="2800" dirty="0"/>
          </a:p>
        </p:txBody>
      </p:sp>
      <p:sp>
        <p:nvSpPr>
          <p:cNvPr id="4" name="Shape 2"/>
          <p:cNvSpPr/>
          <p:nvPr/>
        </p:nvSpPr>
        <p:spPr>
          <a:xfrm>
            <a:off x="640080" y="1188720"/>
            <a:ext cx="10881360" cy="4892040"/>
          </a:xfrm>
          <a:prstGeom prst="roundRect">
            <a:avLst>
              <a:gd name="adj" fmla="val 1308"/>
            </a:avLst>
          </a:prstGeom>
          <a:solidFill>
            <a:srgbClr val="FCEFDC"/>
          </a:solidFill>
          <a:ln/>
        </p:spPr>
      </p:sp>
      <p:sp>
        <p:nvSpPr>
          <p:cNvPr id="5" name="Text 3"/>
          <p:cNvSpPr/>
          <p:nvPr/>
        </p:nvSpPr>
        <p:spPr>
          <a:xfrm>
            <a:off x="1005840" y="1463040"/>
            <a:ext cx="10149840" cy="4389120"/>
          </a:xfrm>
          <a:prstGeom prst="rect">
            <a:avLst/>
          </a:prstGeom>
          <a:noFill/>
          <a:ln/>
        </p:spPr>
        <p:txBody>
          <a:bodyPr wrap="square" lIns="0" tIns="0" rIns="0" bIns="0" rtlCol="0" anchor="t"/>
          <a:lstStyle/>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“Bias means the programmer was prejudiced” — usually not; bias more often comes from unrepresentative training data, missing groups, or historically skewed records (e.g., neighborhoods that were under-policed or over-policed).</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“A model with 95% accuracy is basically safe to deploy” — that single number can hide much worse performance for a specific subgroup, which is exactly what a fairness audit checks for.</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“Overfitting means the model is broken” — it usually means the model was tested wrong, not that the underlying method has no value.</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“Adding more data always fixes bias” — more of the same unrepresentative data does not fix bias; you need more *representative* data, or a deliberate correction.</a:t>
            </a:r>
            <a:endParaRPr lang="en-US" sz="150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ellipse">
            <a:avLst/>
          </a:prstGeom>
          <a:solidFill>
            <a:srgbClr val="E8A33D"/>
          </a:solidFill>
          <a:ln/>
        </p:spPr>
      </p:sp>
      <p:sp>
        <p:nvSpPr>
          <p:cNvPr id="3" name="Text 1"/>
          <p:cNvSpPr/>
          <p:nvPr/>
        </p:nvSpPr>
        <p:spPr>
          <a:xfrm>
            <a:off x="1188720" y="411480"/>
            <a:ext cx="10332720" cy="594360"/>
          </a:xfrm>
          <a:prstGeom prst="rect">
            <a:avLst/>
          </a:prstGeom>
          <a:noFill/>
          <a:ln/>
        </p:spPr>
        <p:txBody>
          <a:bodyPr wrap="square" lIns="0" tIns="0" rIns="0" bIns="0" rtlCol="0" anchor="ctr"/>
          <a:lstStyle/>
          <a:p>
            <a:pPr indent="0" marL="0">
              <a:buNone/>
            </a:pPr>
            <a:r>
              <a:rPr lang="en-US" sz="2800" b="1" dirty="0">
                <a:solidFill>
                  <a:srgbClr val="132A4C"/>
                </a:solidFill>
                <a:latin typeface="Cambria" pitchFamily="34" charset="0"/>
                <a:ea typeface="Cambria" pitchFamily="34" charset="-122"/>
                <a:cs typeface="Cambria" pitchFamily="34" charset="-120"/>
              </a:rPr>
              <a:t>What Could Go Wrong: COMPAS Recidivism Scores</a:t>
            </a:r>
            <a:endParaRPr lang="en-US" sz="2800" dirty="0"/>
          </a:p>
        </p:txBody>
      </p:sp>
      <p:sp>
        <p:nvSpPr>
          <p:cNvPr id="4" name="Shape 2"/>
          <p:cNvSpPr/>
          <p:nvPr/>
        </p:nvSpPr>
        <p:spPr>
          <a:xfrm>
            <a:off x="640080" y="1188720"/>
            <a:ext cx="10881360" cy="4892040"/>
          </a:xfrm>
          <a:prstGeom prst="roundRect">
            <a:avLst>
              <a:gd name="adj" fmla="val 1308"/>
            </a:avLst>
          </a:prstGeom>
          <a:solidFill>
            <a:srgbClr val="FCEFDC"/>
          </a:solidFill>
          <a:ln/>
        </p:spPr>
      </p:sp>
      <p:sp>
        <p:nvSpPr>
          <p:cNvPr id="5" name="Text 3"/>
          <p:cNvSpPr/>
          <p:nvPr/>
        </p:nvSpPr>
        <p:spPr>
          <a:xfrm>
            <a:off x="1005840" y="1463040"/>
            <a:ext cx="10149840" cy="4389120"/>
          </a:xfrm>
          <a:prstGeom prst="rect">
            <a:avLst/>
          </a:prstGeom>
          <a:noFill/>
          <a:ln/>
        </p:spPr>
        <p:txBody>
          <a:bodyPr wrap="square" lIns="0" tIns="0" rIns="0" bIns="0" rtlCol="0" anchor="t"/>
          <a:lstStyle/>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COMPAS is a supervised risk-scoring tool used by several U.S. courts to estimate a defendant's likelihood of reoffending, informing decisions like bail and sentencing.</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In 2016, a ProPublica investigation ('Machine Bias') found the tool's errors were not evenly distributed — Black defendants who did not reoffend were more likely to be incorrectly flagged as high-risk than white defendants who did not reoffend.</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The company that built COMPAS disputed the framing using a different fairness definition, and the case remains a widely cited example of how two reasonable definitions of 'fair' can produce opposite conclusions about the same model.</a:t>
            </a:r>
            <a:endParaRPr lang="en-US" sz="1500" dirty="0"/>
          </a:p>
          <a:p>
            <a:pPr marL="228600" indent="-228600">
              <a:lnSpc>
                <a:spcPct val="115000"/>
              </a:lnSpc>
              <a:spcAft>
                <a:spcPts val="1300"/>
              </a:spcAft>
              <a:buSzPct val="100000"/>
              <a:buChar char="■"/>
            </a:pPr>
            <a:r>
              <a:rPr lang="en-US" sz="1500" dirty="0">
                <a:solidFill>
                  <a:srgbClr val="5A3B0C"/>
                </a:solidFill>
                <a:latin typeface="Calibri" pitchFamily="34" charset="0"/>
                <a:ea typeface="Calibri" pitchFamily="34" charset="-122"/>
                <a:cs typeface="Calibri" pitchFamily="34" charset="-120"/>
              </a:rPr>
              <a:t>The lesson for Urban AI: 'fair' is not a single settled property you can check once — you must state which definition of fairness you're using and who reviews the results.</a:t>
            </a:r>
            <a:endParaRPr lang="en-US" sz="150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5B6B7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10332720" y="-731520"/>
            <a:ext cx="2743200" cy="2743200"/>
          </a:xfrm>
          <a:prstGeom prst="ellipse">
            <a:avLst/>
          </a:prstGeom>
          <a:solidFill>
            <a:srgbClr val="0F3A63"/>
          </a:solidFill>
          <a:ln/>
        </p:spPr>
      </p:sp>
      <p:sp>
        <p:nvSpPr>
          <p:cNvPr id="3" name="Text 1"/>
          <p:cNvSpPr/>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BREAKOUT ACTIVITY</a:t>
            </a:r>
            <a:endParaRPr lang="en-US" sz="1400" dirty="0"/>
          </a:p>
        </p:txBody>
      </p:sp>
      <p:sp>
        <p:nvSpPr>
          <p:cNvPr id="4" name="Text 2"/>
          <p:cNvSpPr/>
          <p:nvPr/>
        </p:nvSpPr>
        <p:spPr>
          <a:xfrm>
            <a:off x="640080" y="1051560"/>
            <a:ext cx="1051560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Breakout: Supervised, Unsupervised, or Neither?</a:t>
            </a:r>
            <a:endParaRPr lang="en-US" sz="2600" dirty="0"/>
          </a:p>
        </p:txBody>
      </p:sp>
      <p:sp>
        <p:nvSpPr>
          <p:cNvPr id="5" name="Text 3"/>
          <p:cNvSpPr/>
          <p:nvPr/>
        </p:nvSpPr>
        <p:spPr>
          <a:xfrm>
            <a:off x="640080" y="2103120"/>
            <a:ext cx="10515600" cy="3931920"/>
          </a:xfrm>
          <a:prstGeom prst="rect">
            <a:avLst/>
          </a:prstGeom>
          <a:noFill/>
          <a:ln/>
        </p:spPr>
        <p:txBody>
          <a:bodyPr wrap="square" lIns="0" tIns="0" rIns="0" bIns="0" rtlCol="0" anchor="t"/>
          <a:lstStyle/>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Your TA will hand each team a short scenario card describing an urban dataset (e.g., building permits, 311 complaints).</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Decide: is the described task supervised or unsupervised — and what's the target/label if supervised?</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List two likely features you'd use.</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Flag one way the resulting model could fail if applied outside its original city or neighborhood.</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Trade cards with another team and check each other's reasoning.</a:t>
            </a:r>
            <a:endParaRPr lang="en-US" sz="15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10332720" y="-731520"/>
            <a:ext cx="2743200" cy="2743200"/>
          </a:xfrm>
          <a:prstGeom prst="ellipse">
            <a:avLst/>
          </a:prstGeom>
          <a:solidFill>
            <a:srgbClr val="0F3A63"/>
          </a:solidFill>
          <a:ln/>
        </p:spPr>
      </p:sp>
      <p:sp>
        <p:nvSpPr>
          <p:cNvPr id="3" name="Text 1"/>
          <p:cNvSpPr/>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UP NEXT</a:t>
            </a:r>
            <a:endParaRPr lang="en-US" sz="1400" dirty="0"/>
          </a:p>
        </p:txBody>
      </p:sp>
      <p:sp>
        <p:nvSpPr>
          <p:cNvPr id="4" name="Text 2"/>
          <p:cNvSpPr/>
          <p:nvPr/>
        </p:nvSpPr>
        <p:spPr>
          <a:xfrm>
            <a:off x="640080" y="1051560"/>
            <a:ext cx="1051560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Up Next: Lab 0 — AI in the Browser + First Colab</a:t>
            </a:r>
            <a:endParaRPr lang="en-US" sz="2600" dirty="0"/>
          </a:p>
        </p:txBody>
      </p:sp>
      <p:sp>
        <p:nvSpPr>
          <p:cNvPr id="5" name="Text 3"/>
          <p:cNvSpPr/>
          <p:nvPr/>
        </p:nvSpPr>
        <p:spPr>
          <a:xfrm>
            <a:off x="640080" y="2103120"/>
            <a:ext cx="10515600" cy="3931920"/>
          </a:xfrm>
          <a:prstGeom prst="rect">
            <a:avLst/>
          </a:prstGeom>
          <a:noFill/>
          <a:ln/>
        </p:spPr>
        <p:txBody>
          <a:bodyPr wrap="square" lIns="0" tIns="0" rIns="0" bIns="0" rtlCol="0" anchor="t"/>
          <a:lstStyle/>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Lab 0 runs immediately after this class, in the same Meeting 2 session.</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Track A (no code): prompt, critique, and log one urban question using a chat-based AI tool.</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Track B (Colab): a 10-cell guided notebook — load a city 311 dataset, plot it, ask an LLM to summarize it, and change one marked parameter.</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Both tracks close with the same four reflection prompts: what did the tool assume, who's missing from the data, what would change your recommendation, what must a human verify.</a:t>
            </a:r>
            <a:endParaRPr lang="en-US" sz="15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A4C"/>
        </a:solidFill>
      </p:bgPr>
    </p:bg>
    <p:spTree>
      <p:nvGrpSpPr>
        <p:cNvPr id="1" name=""/>
        <p:cNvGrpSpPr/>
        <p:nvPr/>
      </p:nvGrpSpPr>
      <p:grpSpPr>
        <a:xfrm>
          <a:off x="0" y="0"/>
          <a:ext cx="0" cy="0"/>
          <a:chOff x="0" y="0"/>
          <a:chExt cx="0" cy="0"/>
        </a:xfrm>
      </p:grpSpPr>
      <p:sp>
        <p:nvSpPr>
          <p:cNvPr id="2" name="Shape 0"/>
          <p:cNvSpPr/>
          <p:nvPr/>
        </p:nvSpPr>
        <p:spPr>
          <a:xfrm>
            <a:off x="10332720" y="-731520"/>
            <a:ext cx="2743200" cy="2743200"/>
          </a:xfrm>
          <a:prstGeom prst="ellipse">
            <a:avLst/>
          </a:prstGeom>
          <a:solidFill>
            <a:srgbClr val="0F3A63"/>
          </a:solidFill>
          <a:ln/>
        </p:spPr>
      </p:sp>
      <p:sp>
        <p:nvSpPr>
          <p:cNvPr id="3" name="Text 1"/>
          <p:cNvSpPr/>
          <p:nvPr/>
        </p:nvSpPr>
        <p:spPr>
          <a:xfrm>
            <a:off x="640080" y="640080"/>
            <a:ext cx="7315200" cy="36576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DELIVERABLE DUE NEXT</a:t>
            </a:r>
            <a:endParaRPr lang="en-US" sz="1400" dirty="0"/>
          </a:p>
        </p:txBody>
      </p:sp>
      <p:sp>
        <p:nvSpPr>
          <p:cNvPr id="4" name="Text 2"/>
          <p:cNvSpPr/>
          <p:nvPr/>
        </p:nvSpPr>
        <p:spPr>
          <a:xfrm>
            <a:off x="640080" y="1051560"/>
            <a:ext cx="10515600" cy="91440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Deliverable Due Next: AI Output Audit Worksheet</a:t>
            </a:r>
            <a:endParaRPr lang="en-US" sz="2600" dirty="0"/>
          </a:p>
        </p:txBody>
      </p:sp>
      <p:sp>
        <p:nvSpPr>
          <p:cNvPr id="5" name="Text 3"/>
          <p:cNvSpPr/>
          <p:nvPr/>
        </p:nvSpPr>
        <p:spPr>
          <a:xfrm>
            <a:off x="640080" y="2103120"/>
            <a:ext cx="10515600" cy="3931920"/>
          </a:xfrm>
          <a:prstGeom prst="rect">
            <a:avLst/>
          </a:prstGeom>
          <a:noFill/>
          <a:ln/>
        </p:spPr>
        <p:txBody>
          <a:bodyPr wrap="square" lIns="0" tIns="0" rIns="0" bIns="0" rtlCol="0" anchor="t"/>
          <a:lstStyle/>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Individual deliverable, due before Meeting 3.</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Use your Lab 0 AI output as the input to the audit worksheet.</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Complete the structured sections: factual accuracy, missing context, bias/perspective, uncertainty, privacy risk, and fit for purpose.</a:t>
            </a:r>
            <a:endParaRPr lang="en-US" sz="1550" dirty="0"/>
          </a:p>
          <a:p>
            <a:pPr marL="228600" indent="-228600">
              <a:lnSpc>
                <a:spcPct val="120000"/>
              </a:lnSpc>
              <a:spcAft>
                <a:spcPts val="1200"/>
              </a:spcAft>
              <a:buSzPct val="100000"/>
              <a:buChar char="■"/>
            </a:pPr>
            <a:r>
              <a:rPr lang="en-US" sz="1550" dirty="0">
                <a:solidFill>
                  <a:srgbClr val="E7EEF6"/>
                </a:solidFill>
                <a:latin typeface="Calibri" pitchFamily="34" charset="0"/>
                <a:ea typeface="Calibri" pitchFamily="34" charset="-122"/>
                <a:cs typeface="Calibri" pitchFamily="34" charset="-120"/>
              </a:rPr>
              <a:t>Meeting 3 opens with an audit studio and a debrief of Forum A — come ready to discuss what you found.</a:t>
            </a:r>
            <a:endParaRPr lang="en-US" sz="1550" dirty="0"/>
          </a:p>
        </p:txBody>
      </p:sp>
      <p:sp>
        <p:nvSpPr>
          <p:cNvPr id="6" name="Text 4"/>
          <p:cNvSpPr/>
          <p:nvPr/>
        </p:nvSpPr>
        <p:spPr>
          <a:xfrm>
            <a:off x="457200" y="6473952"/>
            <a:ext cx="64008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Urban AI · MSU AI-Ready Initiative</a:t>
            </a:r>
            <a:endParaRPr lang="en-US" sz="1000" dirty="0"/>
          </a:p>
        </p:txBody>
      </p:sp>
      <p:sp>
        <p:nvSpPr>
          <p:cNvPr id="7" name="Text 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Basics for Urban Problems</dc:title>
  <dc:subject>PptxGenJS Presentation</dc:subject>
  <dc:creator>Urban AI · MSU AI-Ready Initiative</dc:creator>
  <cp:lastModifiedBy>Urban AI · MSU AI-Ready Initiative</cp:lastModifiedBy>
  <cp:revision>1</cp:revision>
  <dcterms:created xsi:type="dcterms:W3CDTF">2026-08-11T12:52:23Z</dcterms:created>
  <dcterms:modified xsi:type="dcterms:W3CDTF">2026-08-11T12:52:23Z</dcterms:modified>
</cp:coreProperties>
</file>