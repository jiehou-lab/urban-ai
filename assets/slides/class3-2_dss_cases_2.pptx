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this class explicitly to the five categories from Class 3-1 — students should leave believing AI-enhanced DSSs are an evolution of familiar tools, not an entirely new species requiring new mental models from scratch.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deck's core vocabulary slide — make sure the three terms (in-the-loop, on-the-loop, out-of-the-loop) are clearly distinguished, since the worked example later asks students to place a specific scenario on this spectrum.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intentionally the 'positive' case in this deck's pairing — hold it up against the SyRI case that follows. Ask students what design choice most differentiates the two (SyRI's flag triggered an investigation with real consequences and little transparency; NYC's flag triggers outreach/resources).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Explicitly preview the Decision-Support Brief's Human Oversight Plan section here — this is one of the more concrete, gradable connections between lecture content and the final deliverable, worth stating outright.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students a checklist they can literally reuse in their AI Output Audit Worksheet and final Brief — consider explicitly naming that reuse to reinforce the connection.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step is the real teaching moment — many real systems are designed as human-in-the-loop on paper but function as human-out-of-the-loop in practice because reviewers are overloaded. Ask students to reflect on where this might already be happening around them (in any domain, not just planning).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names four distinct failure modes; make sure to leave time to at least briefly describe each, since the breakout activity and the closing case both draw directly on this vocabulary.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bullet is the one students most often miss — reinforce that 'human-in-the-loop' is a design goal, not a guarantee, and connect it back to the worked example's final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deck's closing case — students already know SyRI from Class 1-1, so use this repeat exposure to go deeper into the AI-DSS-specific lessons (missing checkpoint, automation bias, feedback loop) rather than re-explaining the basic facts of the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2926080" cy="2926080"/>
          </a:xfrm>
          <a:prstGeom prst="ellipse">
            <a:avLst/>
          </a:prstGeom>
          <a:solidFill>
            <a:srgbClr val="0F3A63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5029200"/>
            <a:ext cx="1463040" cy="1463040"/>
          </a:xfrm>
          <a:prstGeom prst="ellipse">
            <a:avLst/>
          </a:prstGeom>
          <a:solidFill>
            <a:srgbClr val="1E7A8C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57607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3-2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Support Systems II: AI-Enhanced DSS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AI: AI-Driven Decision Support for Real-World Urban Challenges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Jie Hou, Ph.D.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 (Class segment of Meeting 7)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MSU AI-Ready Initiative · Non-Credit Learning Experience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3401568"/>
            <a:ext cx="10180015" cy="0"/>
          </a:xfrm>
          <a:prstGeom prst="line">
            <a:avLst/>
          </a:prstGeom>
          <a:noFill/>
          <a:ln w="25400">
            <a:solidFill>
              <a:srgbClr val="CCD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" y="3209544"/>
            <a:ext cx="384048" cy="38404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68104" y="3209544"/>
            <a:ext cx="384048" cy="38404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11488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74328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Basics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22392" y="3209544"/>
            <a:ext cx="384048" cy="38404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5776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28616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76680" y="3209544"/>
            <a:ext cx="384048" cy="38404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0064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82904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30968" y="3209544"/>
            <a:ext cx="384048" cy="38404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4352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37192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Cases 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993815" y="3118104"/>
            <a:ext cx="566928" cy="566928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11519" y="32644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28639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91479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Cases II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539543" y="3209544"/>
            <a:ext cx="384048" cy="384048"/>
          </a:xfrm>
          <a:prstGeom prst="ellipse">
            <a:avLst/>
          </a:prstGeom>
          <a:solidFill>
            <a:srgbClr val="B9C6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2927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45767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DSS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993831" y="3209544"/>
            <a:ext cx="384048" cy="384048"/>
          </a:xfrm>
          <a:prstGeom prst="ellipse">
            <a:avLst/>
          </a:prstGeom>
          <a:solidFill>
            <a:srgbClr val="B9C6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37215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00055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05840" y="51206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class meetings build from foundational concepts to a team-built, human-reviewed Urban AI Decision-Support Brief. Today's class is highlighted in amber above.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class,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10149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AI-enhanced DSS and explain what changes when ML or LLM components are added to a classic DSS.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88336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642616"/>
            <a:ext cx="10149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human-in-the-loop spectrum and identify where a checkpoint belongs in a given workflow.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639312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593592"/>
            <a:ext cx="10149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standard AI-DSS workflow: data/model input, human review, decision, monitoring.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590288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4544568"/>
            <a:ext cx="10149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at least two ways to evaluate an AI-enhanced DSS beyond raw accuracy.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541264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541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5495544"/>
            <a:ext cx="10149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common AI-DSS failure modes and connect each to a real documented case.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AI-Enhanced DSS?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0408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AI-enhanced DSS takes one of the five classic DSS categories from Class 3-1 and adds a machine-learning or generative-AI component — a predictive model inside a model-driven DSS, or an LLM inside a document-driven DSS, for example.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DSS categories still apply — AI doesn't create a sixth category, it changes what powers the model, knowledge, or communication layer inside an existing one.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genuinely new: AI components can be probabilistic and can behave differently on inputs that weren't well represented in training, which the classic rule-based or purely statistical DSS often didn't have to contend with in the same way.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added uncertainty is exactly why human-in-the-loop design, covered next, becomes more important — not less — as AI components are added.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2344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3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0" y="178308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AI-enhanced DSS = a classic DSS category (Class 3-1) + an ML/LLM component + a defined human-review point.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describes a system where a person reviews and can override the AI's output before it takes effect — the AI recommends, the human decides.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Human-on-the-loop describes a system that acts more autonomously but where a person monitors it and can intervene — think of it as supervision rather than case-by-case review.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Human-out-of-the-loop describes full automation with no routine human check — appropriate only for very low-stakes, well-validated, easily reversible decisions, and rare in legitimate urban government use.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point on this spectrum for a given task is itself a decision that should be made deliberately and documented, not defaulted into by whichever option was easiest to build.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2A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NYC's Speculation Watch List — An AI-Enhanced, Human-Reviewed DSS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City's Department of Housing Preservation and Development (HPD) publishes a Speculation Watch List — buildings identified as being at elevated risk of predatory-equity practices or tenant harassment, based on indicators like recent sale price spikes, distress signals, and code-violation patterns.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functions as a data-driven/model-driven hybrid DSS: it scores and flags buildings, but the flag triggers additional outreach, monitoring, and tenant-protection resources rather than any automatic penalty against the property owner.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reasonable human-in-the-loop design: the algorithm narrows HPD's limited outreach capacity toward buildings that most need attention, while City staff and tenant advocates make the actual case-by-case judgment calls.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illustrates a broader theme: many of the most defensible AI-DSS deployments are ones that flag or prioritize for human attention, rather than ones that act directly on people.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863840" y="1737360"/>
            <a:ext cx="3703320" cy="3931920"/>
          </a:xfrm>
          <a:prstGeom prst="roundRect">
            <a:avLst>
              <a:gd name="adj" fmla="val 1975"/>
            </a:avLst>
          </a:prstGeom>
          <a:solidFill>
            <a:srgbClr val="FCEFDC"/>
          </a:solidFill>
          <a:ln/>
        </p:spPr>
      </p:sp>
      <p:sp>
        <p:nvSpPr>
          <p:cNvPr id="7" name="Text 5"/>
          <p:cNvSpPr/>
          <p:nvPr/>
        </p:nvSpPr>
        <p:spPr>
          <a:xfrm>
            <a:off x="809244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92440" y="228600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case shows what 'good' looks like: a public, named, documented tool whose output triggers human outreach rather than an automatic consequence — worth using as your default mental template when your team designs its own AI-DSS workflow.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Design for an AI-Enhanced DSS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workable AI-DSS workflow has four stages: data/model input, a defined human-review checkpoint, the decision itself, and ongoing monitoring with a feedback loop back to the model or rules.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checkpoint needs to specify who reviews, what they're checking for, and what happens if they disagree with the AI's output — a checkpoint that exists on paper but isn't actually used in practice provides no real protection.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matters because AI components can degrade silently as real-world conditions shift away from training data (data drift, introduced in Class 1-2) — a workflow without monitoring has no way to notice that degradation.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four-stage workflow is exactly what your team will need to describe in the Human Oversight Plan section of your final Decision-Support Brief.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an AI-Enhanced DSS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0408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necessary but not sufficient — a model can be statistically accurate overall while still being unusable or unfair in practice, as the subgroup-accuracy discussion in Class 1-2 already showed.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asks whether the AI's stated confidence matches its real-world reliability — a tool that says '80% confident' should be right about 80% of the time it says that, not just usually right in general.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asks whether a human reviewer can understand enough of why the AI produced a given output to meaningfully agree or push back on it — a completely opaque recommendation is hard to responsibly override.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asks whether the humans who are supposed to review AI outputs actually have the time, training, and incentive to do so carefully — a review step nobody has time to do properly is a review step that doesn't function.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2344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3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0" y="178308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alone is not evaluation. Add calibration, explainability, and usability.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A Permit-Approval AI Recommendation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402336" cy="402336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07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80160"/>
            <a:ext cx="10241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an AI tool reviews a submitted building permit application and recommends 'likely compliant, fast-track for approval' or 'flag for full manual review.'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04288"/>
            <a:ext cx="402336" cy="402336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276856"/>
            <a:ext cx="10241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checkpoint: who reviews a 'fast-track' recommendation before it's finalized, and how much time do they actually have per case?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00984"/>
            <a:ext cx="402336" cy="402336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273552"/>
            <a:ext cx="10241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calibration: when the tool says 'likely compliant,' how often is that actually true on cases where staff did a full review anyway, as a spot check?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402336" cy="402336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270248"/>
            <a:ext cx="10241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explainability: can the reviewer see which specific application elements drove the recommendation, or only a single confidence score?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294376"/>
            <a:ext cx="402336" cy="402336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294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5266944"/>
            <a:ext cx="10241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it on the human-in-the-loop spectrum: is 'fast-track' truly human-in-the-loop (someone signs off before anything happens), or has it drifted toward human-out-of-the-loop in practice because reviewers are too rushed to meaningfully check it?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Modes to Watch For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bias: humans tend to over-trust an AI recommendation simply because it's presented confidently and consistently, even when they have reason to doubt it.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fatigue: if an AI-DSS flags too many things, or flags things too often incorrectly, reviewers start ignoring flags altogether — including the real ones.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loops: if an AI-DSS's outputs influence which cases get investigated, and investigated cases become training data for the next model version, biased patterns can reinforce and amplify themselves over time.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 (introduced in Class 1-2): a model trained on past conditions can quietly degrade in accuracy as neighborhoods, policies, or behaviors change, without any obvious signal that it's happening.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Misconceptions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881360" cy="4892040"/>
          </a:xfrm>
          <a:prstGeom prst="roundRect">
            <a:avLst>
              <a:gd name="adj" fmla="val 1308"/>
            </a:avLst>
          </a:prstGeom>
          <a:solidFill>
            <a:srgbClr val="FCEFD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10149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“Adding AI removes bias because it's more objective than the human reviewers it's assisting” — an AI-DSS can just as easily launder existing bias behind a veneer of technical authority.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“More automation always means more efficiency” — a poorly designed human-review step can slow things down or create a false sense of security that's worse than no AI component at all.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pilot that worked well in testing will keep working the same way in production” — real-world conditions, volumes, and user behavior after launch routinely differ from a controlled pilot.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“Human-in-the-loop is automatically a strong safeguard” — as the permit-approval worked example showed, a review step only protects against error if reviewers actually have the time, training, and authority to meaningfully use it.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Wrong: Revisiting SyRI as an AI-DSS Failure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881360" cy="4892040"/>
          </a:xfrm>
          <a:prstGeom prst="roundRect">
            <a:avLst>
              <a:gd name="adj" fmla="val 1308"/>
            </a:avLst>
          </a:prstGeom>
          <a:solidFill>
            <a:srgbClr val="FCEFD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10149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from Class 1-1: SyRI, used by the Dutch government including several municipalities, combined data across registries to flag households for welfare-fraud investigation, and was ruled illegal by a Dutch court in February 2020 for violating human-rights protections.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Viewed through today's AI-DSS lens specifically: SyRI had essentially no meaningful human-in-the-loop checkpoint that residents could see or contest — a flag could trigger a real investigation with no clear, accessible path for someone to understand or challenge why they were selected.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shows automation bias and a feedback-loop risk at once: investigators may have treated a SyRI flag as strong evidence on its own, and any resulting enforcement action could feed back into future data used to justify similar flags.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specific, actionable lesson for your team: name a real human reviewer for every AI-influenced decision in your workflow, state what they check, and make sure someone affected by the decision has a way to ask why.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731520"/>
            <a:ext cx="2743200" cy="2743200"/>
          </a:xfrm>
          <a:prstGeom prst="ellipse">
            <a:avLst/>
          </a:prstGeom>
          <a:solidFill>
            <a:srgbClr val="0F3A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ACTIVITY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Breakout: Design a Human-in-the-Loop Checkpoint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an AI tool flags rental properties as high-risk for a building-safety inspection.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team, decide exactly where the human checkpoint belongs: before the flag is acted on, or after an automatic scheduling step?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who reviews, what they check, and what happens if they disagree with the flag.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failure mode (automation bias, alert fatigue, feedback loop, or data drift) your design is most vulnerable to, and one mitigation.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731520"/>
            <a:ext cx="2743200" cy="2743200"/>
          </a:xfrm>
          <a:prstGeom prst="ellipse">
            <a:avLst/>
          </a:prstGeom>
          <a:solidFill>
            <a:srgbClr val="0F3A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Next: Lab 6 — DSS AI Lab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 runs immediately after this class, in the same Meeting 7 session.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(no code): run two scenarios in an approved no-code DSS platform and compare outcomes.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(Colab): a scenario engine — change parameters and compare outcomes side by side.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Artifact: your Scenario Comparison Matrix — this is Deliverable 4, due as part of this lab.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731520"/>
            <a:ext cx="2743200" cy="2743200"/>
          </a:xfrm>
          <a:prstGeom prst="ellipse">
            <a:avLst/>
          </a:prstGeom>
          <a:solidFill>
            <a:srgbClr val="0F3A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DUE NEXT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Due Next: AI/DSS Process Log + Scenario Comparison Matrix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deliverable, due before Meeting 8.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your AI/DSS Process Log: every AI-influenced step, its DSS category, and its human-review checkpoint.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Scenario Comparison Matrix during Lab 6, including the assumptions/uncertainties and who-benefits/who-bears-cost sections.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documents feed directly into your final Decision-Support Brief.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Support Systems II: AI-Enhanced DSS</dc:title>
  <dc:subject>PptxGenJS Presentation</dc:subject>
  <dc:creator>Urban AI · MSU AI-Ready Initiative</dc:creator>
  <cp:lastModifiedBy>Urban AI · MSU AI-Ready Initiative</cp:lastModifiedBy>
  <cp:revision>1</cp:revision>
  <dcterms:created xsi:type="dcterms:W3CDTF">2026-08-11T12:52:23Z</dcterms:created>
  <dcterms:modified xsi:type="dcterms:W3CDTF">2026-08-11T12:52:23Z</dcterms:modified>
</cp:coreProperties>
</file>