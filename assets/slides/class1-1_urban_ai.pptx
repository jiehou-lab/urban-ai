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base of the pyramid: analytics → smart cities → Urban AI. Emphasize that analytics is just organized observation — no AI required yet. Ask students to name one city dataset they've personally seen (a map, a dashboard, a 311 app) to ground the definition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stack diagram in the callout box slowly — many students will conflate 'smart city' with 'AI city.' Sentilo is a real, checkable example; encourage students to look it up rather than take your word for it, modeling the course's verification norm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'boring but essential' case. If students ask 'where's the AI,' that's the teaching moment — this is intentionally the analytics layer, not the AI layer. Mention Array of Things as the sensor layer feeding dashboards like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directly with the WindyGrid slide: dashboard vs. closed-loop control. Ask students where they'd draw the line for human review — this previews the human-in-the-loop discussion in Class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previews the whole course's spine. Point out explicitly that steps 2 and 6 are the ones AI must never fully own — this is the seed of the Responsible AI Agreement they'll sign in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 full DSS taxonomy is Class 3-1's job. The goal here is just to plant the vocabulary and the core principle (informs, doesn't replace) so it's already familiar in week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low-tech worked example — no software, just the reasoning pattern. It's the same pattern Lab 5 (Risk-Response DSS) will formalize with real weighted scoring, so flag that connection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together: everything after this slide in the course is a deeper dive into one part of this definition. Good moment to preview the six deliverables briefly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give a personal example of each misconception if they can — this lands better as discussion than lecture. This slide sets up the next one, which shows a concrete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anchor cautionary case — expect it to resurface in Class 3-2 and 4-2 from different angles. Make sure students leave understanding this was a real court ruling with real consequences, not a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9692640" y="4206240"/>
            <a:ext cx="2926080" cy="2926080"/>
          </a:xfrm>
          <a:prstGeom prst="ellipse">
            <a:avLst/>
          </a:prstGeom>
          <a:solidFill>
            <a:srgbClr val="0F3A63"/>
          </a:solidFill>
          <a:ln/>
        </p:spPr>
      </p:sp>
      <p:sp>
        <p:nvSpPr>
          <p:cNvPr id="3" name="Shape 1"/>
          <p:cNvSpPr/>
          <p:nvPr/>
        </p:nvSpPr>
        <p:spPr>
          <a:xfrm>
            <a:off x="10515600" y="5029200"/>
            <a:ext cx="1463040" cy="1463040"/>
          </a:xfrm>
          <a:prstGeom prst="ellipse">
            <a:avLst/>
          </a:prstGeom>
          <a:solidFill>
            <a:srgbClr val="1E7A8C">
              <a:alpha val="75000"/>
            </a:srgbClr>
          </a:solidFill>
          <a:ln/>
        </p:spPr>
      </p:sp>
      <p:sp>
        <p:nvSpPr>
          <p:cNvPr id="4" name="Shape 2"/>
          <p:cNvSpPr/>
          <p:nvPr/>
        </p:nvSpPr>
        <p:spPr>
          <a:xfrm>
            <a:off x="11247120" y="5760720"/>
            <a:ext cx="640080" cy="640080"/>
          </a:xfrm>
          <a:prstGeom prst="ellipse">
            <a:avLst/>
          </a:prstGeom>
          <a:solidFill>
            <a:srgbClr val="E8A33D"/>
          </a:solidFill>
          <a:ln/>
        </p:spPr>
      </p:sp>
      <p:sp>
        <p:nvSpPr>
          <p:cNvPr id="5" name="Text 3"/>
          <p:cNvSpPr/>
          <p:nvPr/>
        </p:nvSpPr>
        <p:spPr>
          <a:xfrm>
            <a:off x="640080" y="1005840"/>
            <a:ext cx="5486400" cy="457200"/>
          </a:xfrm>
          <a:prstGeom prst="rect">
            <a:avLst/>
          </a:prstGeom>
          <a:noFill/>
          <a:ln/>
        </p:spPr>
        <p:txBody>
          <a:bodyPr wrap="square" lIns="0" tIns="0" rIns="0" bIns="0" rtlCol="0" anchor="ctr"/>
          <a:lstStyle/>
          <a:p>
            <a:pPr indent="0" marL="0">
              <a:buNone/>
            </a:pPr>
            <a:r>
              <a:rPr lang="en-US" sz="1600" b="1" spc="200" kern="0" dirty="0">
                <a:solidFill>
                  <a:srgbClr val="E8A33D"/>
                </a:solidFill>
                <a:latin typeface="Calibri" pitchFamily="34" charset="0"/>
                <a:ea typeface="Calibri" pitchFamily="34" charset="-122"/>
                <a:cs typeface="Calibri" pitchFamily="34" charset="-120"/>
              </a:rPr>
              <a:t>CLASS 1-1</a:t>
            </a:r>
            <a:endParaRPr lang="en-US" sz="1600" dirty="0"/>
          </a:p>
        </p:txBody>
      </p:sp>
      <p:sp>
        <p:nvSpPr>
          <p:cNvPr id="6" name="Text 4"/>
          <p:cNvSpPr/>
          <p:nvPr/>
        </p:nvSpPr>
        <p:spPr>
          <a:xfrm>
            <a:off x="640080" y="1508760"/>
            <a:ext cx="9601200" cy="18288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Urban Analytics, Smart Cities, and Urban AI</a:t>
            </a:r>
            <a:endParaRPr lang="en-US" sz="3800" dirty="0"/>
          </a:p>
        </p:txBody>
      </p:sp>
      <p:sp>
        <p:nvSpPr>
          <p:cNvPr id="7" name="Text 5"/>
          <p:cNvSpPr/>
          <p:nvPr/>
        </p:nvSpPr>
        <p:spPr>
          <a:xfrm>
            <a:off x="640080" y="3246120"/>
            <a:ext cx="86868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Urban AI: AI-Driven Decision Support for Real-World Urban Challenges</a:t>
            </a:r>
            <a:endParaRPr lang="en-US" sz="1500" dirty="0"/>
          </a:p>
        </p:txBody>
      </p:sp>
      <p:sp>
        <p:nvSpPr>
          <p:cNvPr id="8" name="Text 6"/>
          <p:cNvSpPr/>
          <p:nvPr/>
        </p:nvSpPr>
        <p:spPr>
          <a:xfrm>
            <a:off x="640080" y="3931920"/>
            <a:ext cx="7315200" cy="914400"/>
          </a:xfrm>
          <a:prstGeom prst="rect">
            <a:avLst/>
          </a:prstGeom>
          <a:noFill/>
          <a:ln/>
        </p:spPr>
        <p:txBody>
          <a:bodyPr wrap="square" lIns="0" tIns="0" rIns="0" bIns="0" rtlCol="0" anchor="ctr"/>
          <a:lstStyle/>
          <a:p>
            <a:pPr indent="0" marL="0">
              <a:lnSpc>
                <a:spcPct val="130000"/>
              </a:lnSpc>
              <a:buNone/>
            </a:pPr>
            <a:r>
              <a:rPr lang="en-US" sz="1400" b="1" dirty="0">
                <a:solidFill>
                  <a:srgbClr val="CADCFC"/>
                </a:solidFill>
                <a:latin typeface="Calibri" pitchFamily="34" charset="0"/>
                <a:ea typeface="Calibri" pitchFamily="34" charset="-122"/>
                <a:cs typeface="Calibri" pitchFamily="34" charset="-120"/>
              </a:rPr>
              <a:t>Instructor: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Si Chen, Ph.D.
</a:t>
            </a:r>
            <a:pPr indent="0" marL="0">
              <a:lnSpc>
                <a:spcPct val="130000"/>
              </a:lnSpc>
              <a:buNone/>
            </a:pPr>
            <a:r>
              <a:rPr lang="en-US" sz="1400" b="1" dirty="0">
                <a:solidFill>
                  <a:srgbClr val="CADCFC"/>
                </a:solidFill>
                <a:latin typeface="Calibri" pitchFamily="34" charset="0"/>
                <a:ea typeface="Calibri" pitchFamily="34" charset="-122"/>
                <a:cs typeface="Calibri" pitchFamily="34" charset="-120"/>
              </a:rPr>
              <a:t>Duration: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60 minutes (Class segment of Meeting 1)</a:t>
            </a:r>
            <a:endParaRPr lang="en-US" sz="1400" dirty="0"/>
          </a:p>
        </p:txBody>
      </p:sp>
      <p:sp>
        <p:nvSpPr>
          <p:cNvPr id="9" name="Text 7"/>
          <p:cNvSpPr/>
          <p:nvPr/>
        </p:nvSpPr>
        <p:spPr>
          <a:xfrm>
            <a:off x="640080" y="6035040"/>
            <a:ext cx="7315200" cy="365760"/>
          </a:xfrm>
          <a:prstGeom prst="rect">
            <a:avLst/>
          </a:prstGeom>
          <a:noFill/>
          <a:ln/>
        </p:spPr>
        <p:txBody>
          <a:bodyPr wrap="square" lIns="0" tIns="0" rIns="0" bIns="0" rtlCol="0" anchor="ctr"/>
          <a:lstStyle/>
          <a:p>
            <a:pPr indent="0" marL="0">
              <a:buNone/>
            </a:pPr>
            <a:r>
              <a:rPr lang="en-US" sz="1100" dirty="0">
                <a:solidFill>
                  <a:srgbClr val="8FA6C2"/>
                </a:solidFill>
                <a:latin typeface="Calibri" pitchFamily="34" charset="0"/>
                <a:ea typeface="Calibri" pitchFamily="34" charset="-122"/>
                <a:cs typeface="Calibri" pitchFamily="34" charset="-120"/>
              </a:rPr>
              <a:t>MSU AI-Ready Initiative · Non-Credit Learning Experience</a:t>
            </a:r>
            <a:endParaRPr lang="en-US" sz="110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11"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Where We Are</a:t>
            </a:r>
            <a:endParaRPr lang="en-US" sz="2800" dirty="0"/>
          </a:p>
        </p:txBody>
      </p:sp>
      <p:sp>
        <p:nvSpPr>
          <p:cNvPr id="4" name="Shape 2"/>
          <p:cNvSpPr/>
          <p:nvPr/>
        </p:nvSpPr>
        <p:spPr>
          <a:xfrm>
            <a:off x="1005840" y="3401568"/>
            <a:ext cx="10180015" cy="0"/>
          </a:xfrm>
          <a:prstGeom prst="line">
            <a:avLst/>
          </a:prstGeom>
          <a:noFill/>
          <a:ln w="25400">
            <a:solidFill>
              <a:srgbClr val="CCD6DE"/>
            </a:solidFill>
            <a:prstDash val="solid"/>
          </a:ln>
        </p:spPr>
      </p:sp>
      <p:sp>
        <p:nvSpPr>
          <p:cNvPr id="5" name="Shape 3"/>
          <p:cNvSpPr/>
          <p:nvPr/>
        </p:nvSpPr>
        <p:spPr>
          <a:xfrm>
            <a:off x="722376" y="3118104"/>
            <a:ext cx="566928" cy="566928"/>
          </a:xfrm>
          <a:prstGeom prst="ellipse">
            <a:avLst/>
          </a:prstGeom>
          <a:solidFill>
            <a:srgbClr val="E8A33D"/>
          </a:solidFill>
          <a:ln w="25400">
            <a:solidFill>
              <a:srgbClr val="FFFFFF"/>
            </a:solidFill>
            <a:prstDash val="solid"/>
          </a:ln>
        </p:spPr>
      </p:sp>
      <p:sp>
        <p:nvSpPr>
          <p:cNvPr id="6" name="Text 4"/>
          <p:cNvSpPr/>
          <p:nvPr/>
        </p:nvSpPr>
        <p:spPr>
          <a:xfrm>
            <a:off x="640080" y="3264408"/>
            <a:ext cx="731520" cy="320040"/>
          </a:xfrm>
          <a:prstGeom prst="rect">
            <a:avLst/>
          </a:prstGeom>
          <a:noFill/>
          <a:ln/>
        </p:spPr>
        <p:txBody>
          <a:bodyPr wrap="square" lIns="0" tIns="0" rIns="0" bIns="0" rtlCol="0" anchor="ctr"/>
          <a:lstStyle/>
          <a:p>
            <a:pPr algn="ctr" indent="0" marL="0">
              <a:buNone/>
            </a:pPr>
            <a:r>
              <a:rPr lang="en-US" sz="1200" b="1" dirty="0">
                <a:solidFill>
                  <a:srgbClr val="132A4C"/>
                </a:solidFill>
                <a:latin typeface="Calibri" pitchFamily="34" charset="0"/>
                <a:ea typeface="Calibri" pitchFamily="34" charset="-122"/>
                <a:cs typeface="Calibri" pitchFamily="34" charset="-120"/>
              </a:rPr>
              <a:t>1-1</a:t>
            </a:r>
            <a:endParaRPr lang="en-US" sz="1200" dirty="0"/>
          </a:p>
        </p:txBody>
      </p:sp>
      <p:sp>
        <p:nvSpPr>
          <p:cNvPr id="7" name="Text 5"/>
          <p:cNvSpPr/>
          <p:nvPr/>
        </p:nvSpPr>
        <p:spPr>
          <a:xfrm>
            <a:off x="457200" y="3794760"/>
            <a:ext cx="1097280" cy="274320"/>
          </a:xfrm>
          <a:prstGeom prst="rect">
            <a:avLst/>
          </a:prstGeom>
          <a:noFill/>
          <a:ln/>
        </p:spPr>
        <p:txBody>
          <a:bodyPr wrap="square" lIns="0" tIns="0" rIns="0" bIns="0" rtlCol="0" anchor="ctr"/>
          <a:lstStyle/>
          <a:p>
            <a:pPr algn="ctr" indent="0" marL="0">
              <a:buNone/>
            </a:pPr>
            <a:r>
              <a:rPr lang="en-US" sz="1100" b="1" dirty="0">
                <a:solidFill>
                  <a:srgbClr val="132A4C"/>
                </a:solidFill>
                <a:latin typeface="Calibri" pitchFamily="34" charset="0"/>
                <a:ea typeface="Calibri" pitchFamily="34" charset="-122"/>
                <a:cs typeface="Calibri" pitchFamily="34" charset="-120"/>
              </a:rPr>
              <a:t>1-1</a:t>
            </a:r>
            <a:endParaRPr lang="en-US" sz="1100" dirty="0"/>
          </a:p>
        </p:txBody>
      </p:sp>
      <p:sp>
        <p:nvSpPr>
          <p:cNvPr id="8" name="Text 6"/>
          <p:cNvSpPr/>
          <p:nvPr/>
        </p:nvSpPr>
        <p:spPr>
          <a:xfrm>
            <a:off x="320040" y="4069080"/>
            <a:ext cx="1371600" cy="457200"/>
          </a:xfrm>
          <a:prstGeom prst="rect">
            <a:avLst/>
          </a:prstGeom>
          <a:noFill/>
          <a:ln/>
        </p:spPr>
        <p:txBody>
          <a:bodyPr wrap="square" lIns="0" tIns="0" rIns="0" bIns="0" rtlCol="0" anchor="ctr"/>
          <a:lstStyle/>
          <a:p>
            <a:pPr algn="ctr" indent="0" marL="0">
              <a:buNone/>
            </a:pPr>
            <a:r>
              <a:rPr lang="en-US" sz="950" dirty="0">
                <a:solidFill>
                  <a:srgbClr val="1B2A3D"/>
                </a:solidFill>
                <a:latin typeface="Calibri" pitchFamily="34" charset="0"/>
                <a:ea typeface="Calibri" pitchFamily="34" charset="-122"/>
                <a:cs typeface="Calibri" pitchFamily="34" charset="-120"/>
              </a:rPr>
              <a:t>Urban AI</a:t>
            </a:r>
            <a:endParaRPr lang="en-US" sz="950" dirty="0"/>
          </a:p>
        </p:txBody>
      </p:sp>
      <p:sp>
        <p:nvSpPr>
          <p:cNvPr id="9" name="Shape 7"/>
          <p:cNvSpPr/>
          <p:nvPr/>
        </p:nvSpPr>
        <p:spPr>
          <a:xfrm>
            <a:off x="2268104" y="3209544"/>
            <a:ext cx="384048" cy="384048"/>
          </a:xfrm>
          <a:prstGeom prst="ellipse">
            <a:avLst/>
          </a:prstGeom>
          <a:solidFill>
            <a:srgbClr val="B9C6D1"/>
          </a:solidFill>
          <a:ln w="12700">
            <a:solidFill>
              <a:srgbClr val="FFFFFF"/>
            </a:solidFill>
            <a:prstDash val="solid"/>
          </a:ln>
        </p:spPr>
      </p:sp>
      <p:sp>
        <p:nvSpPr>
          <p:cNvPr id="10" name="Text 8"/>
          <p:cNvSpPr/>
          <p:nvPr/>
        </p:nvSpPr>
        <p:spPr>
          <a:xfrm>
            <a:off x="1911488"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1-2</a:t>
            </a:r>
            <a:endParaRPr lang="en-US" sz="1100" dirty="0"/>
          </a:p>
        </p:txBody>
      </p:sp>
      <p:sp>
        <p:nvSpPr>
          <p:cNvPr id="11" name="Text 9"/>
          <p:cNvSpPr/>
          <p:nvPr/>
        </p:nvSpPr>
        <p:spPr>
          <a:xfrm>
            <a:off x="1774328"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AI Basics</a:t>
            </a:r>
            <a:endParaRPr lang="en-US" sz="950" dirty="0"/>
          </a:p>
        </p:txBody>
      </p:sp>
      <p:sp>
        <p:nvSpPr>
          <p:cNvPr id="12" name="Shape 10"/>
          <p:cNvSpPr/>
          <p:nvPr/>
        </p:nvSpPr>
        <p:spPr>
          <a:xfrm>
            <a:off x="3722392" y="3209544"/>
            <a:ext cx="384048" cy="384048"/>
          </a:xfrm>
          <a:prstGeom prst="ellipse">
            <a:avLst/>
          </a:prstGeom>
          <a:solidFill>
            <a:srgbClr val="B9C6D1"/>
          </a:solidFill>
          <a:ln w="12700">
            <a:solidFill>
              <a:srgbClr val="FFFFFF"/>
            </a:solidFill>
            <a:prstDash val="solid"/>
          </a:ln>
        </p:spPr>
      </p:sp>
      <p:sp>
        <p:nvSpPr>
          <p:cNvPr id="13" name="Text 11"/>
          <p:cNvSpPr/>
          <p:nvPr/>
        </p:nvSpPr>
        <p:spPr>
          <a:xfrm>
            <a:off x="3365776"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2-1</a:t>
            </a:r>
            <a:endParaRPr lang="en-US" sz="1100" dirty="0"/>
          </a:p>
        </p:txBody>
      </p:sp>
      <p:sp>
        <p:nvSpPr>
          <p:cNvPr id="14" name="Text 12"/>
          <p:cNvSpPr/>
          <p:nvPr/>
        </p:nvSpPr>
        <p:spPr>
          <a:xfrm>
            <a:off x="3228616"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Models I</a:t>
            </a:r>
            <a:endParaRPr lang="en-US" sz="950" dirty="0"/>
          </a:p>
        </p:txBody>
      </p:sp>
      <p:sp>
        <p:nvSpPr>
          <p:cNvPr id="15" name="Shape 13"/>
          <p:cNvSpPr/>
          <p:nvPr/>
        </p:nvSpPr>
        <p:spPr>
          <a:xfrm>
            <a:off x="5176680" y="3209544"/>
            <a:ext cx="384048" cy="384048"/>
          </a:xfrm>
          <a:prstGeom prst="ellipse">
            <a:avLst/>
          </a:prstGeom>
          <a:solidFill>
            <a:srgbClr val="B9C6D1"/>
          </a:solidFill>
          <a:ln w="12700">
            <a:solidFill>
              <a:srgbClr val="FFFFFF"/>
            </a:solidFill>
            <a:prstDash val="solid"/>
          </a:ln>
        </p:spPr>
      </p:sp>
      <p:sp>
        <p:nvSpPr>
          <p:cNvPr id="16" name="Text 14"/>
          <p:cNvSpPr/>
          <p:nvPr/>
        </p:nvSpPr>
        <p:spPr>
          <a:xfrm>
            <a:off x="4820064"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2-2</a:t>
            </a:r>
            <a:endParaRPr lang="en-US" sz="1100" dirty="0"/>
          </a:p>
        </p:txBody>
      </p:sp>
      <p:sp>
        <p:nvSpPr>
          <p:cNvPr id="17" name="Text 15"/>
          <p:cNvSpPr/>
          <p:nvPr/>
        </p:nvSpPr>
        <p:spPr>
          <a:xfrm>
            <a:off x="4682904"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Models II</a:t>
            </a:r>
            <a:endParaRPr lang="en-US" sz="950" dirty="0"/>
          </a:p>
        </p:txBody>
      </p:sp>
      <p:sp>
        <p:nvSpPr>
          <p:cNvPr id="18" name="Shape 16"/>
          <p:cNvSpPr/>
          <p:nvPr/>
        </p:nvSpPr>
        <p:spPr>
          <a:xfrm>
            <a:off x="6630968" y="3209544"/>
            <a:ext cx="384048" cy="384048"/>
          </a:xfrm>
          <a:prstGeom prst="ellipse">
            <a:avLst/>
          </a:prstGeom>
          <a:solidFill>
            <a:srgbClr val="B9C6D1"/>
          </a:solidFill>
          <a:ln w="12700">
            <a:solidFill>
              <a:srgbClr val="FFFFFF"/>
            </a:solidFill>
            <a:prstDash val="solid"/>
          </a:ln>
        </p:spPr>
      </p:sp>
      <p:sp>
        <p:nvSpPr>
          <p:cNvPr id="19" name="Text 17"/>
          <p:cNvSpPr/>
          <p:nvPr/>
        </p:nvSpPr>
        <p:spPr>
          <a:xfrm>
            <a:off x="6274352"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3-1</a:t>
            </a:r>
            <a:endParaRPr lang="en-US" sz="1100" dirty="0"/>
          </a:p>
        </p:txBody>
      </p:sp>
      <p:sp>
        <p:nvSpPr>
          <p:cNvPr id="20" name="Text 18"/>
          <p:cNvSpPr/>
          <p:nvPr/>
        </p:nvSpPr>
        <p:spPr>
          <a:xfrm>
            <a:off x="6137192"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DSS Cases I</a:t>
            </a:r>
            <a:endParaRPr lang="en-US" sz="950" dirty="0"/>
          </a:p>
        </p:txBody>
      </p:sp>
      <p:sp>
        <p:nvSpPr>
          <p:cNvPr id="21" name="Shape 19"/>
          <p:cNvSpPr/>
          <p:nvPr/>
        </p:nvSpPr>
        <p:spPr>
          <a:xfrm>
            <a:off x="8085255" y="3209544"/>
            <a:ext cx="384048" cy="384048"/>
          </a:xfrm>
          <a:prstGeom prst="ellipse">
            <a:avLst/>
          </a:prstGeom>
          <a:solidFill>
            <a:srgbClr val="B9C6D1"/>
          </a:solidFill>
          <a:ln w="12700">
            <a:solidFill>
              <a:srgbClr val="FFFFFF"/>
            </a:solidFill>
            <a:prstDash val="solid"/>
          </a:ln>
        </p:spPr>
      </p:sp>
      <p:sp>
        <p:nvSpPr>
          <p:cNvPr id="22" name="Text 20"/>
          <p:cNvSpPr/>
          <p:nvPr/>
        </p:nvSpPr>
        <p:spPr>
          <a:xfrm>
            <a:off x="7728639"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3-2</a:t>
            </a:r>
            <a:endParaRPr lang="en-US" sz="1100" dirty="0"/>
          </a:p>
        </p:txBody>
      </p:sp>
      <p:sp>
        <p:nvSpPr>
          <p:cNvPr id="23" name="Text 21"/>
          <p:cNvSpPr/>
          <p:nvPr/>
        </p:nvSpPr>
        <p:spPr>
          <a:xfrm>
            <a:off x="7591479"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DSS Cases II</a:t>
            </a:r>
            <a:endParaRPr lang="en-US" sz="950" dirty="0"/>
          </a:p>
        </p:txBody>
      </p:sp>
      <p:sp>
        <p:nvSpPr>
          <p:cNvPr id="24" name="Shape 22"/>
          <p:cNvSpPr/>
          <p:nvPr/>
        </p:nvSpPr>
        <p:spPr>
          <a:xfrm>
            <a:off x="9539543" y="3209544"/>
            <a:ext cx="384048" cy="384048"/>
          </a:xfrm>
          <a:prstGeom prst="ellipse">
            <a:avLst/>
          </a:prstGeom>
          <a:solidFill>
            <a:srgbClr val="B9C6D1"/>
          </a:solidFill>
          <a:ln w="12700">
            <a:solidFill>
              <a:srgbClr val="FFFFFF"/>
            </a:solidFill>
            <a:prstDash val="solid"/>
          </a:ln>
        </p:spPr>
      </p:sp>
      <p:sp>
        <p:nvSpPr>
          <p:cNvPr id="25" name="Text 23"/>
          <p:cNvSpPr/>
          <p:nvPr/>
        </p:nvSpPr>
        <p:spPr>
          <a:xfrm>
            <a:off x="9182927"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4-1</a:t>
            </a:r>
            <a:endParaRPr lang="en-US" sz="1100" dirty="0"/>
          </a:p>
        </p:txBody>
      </p:sp>
      <p:sp>
        <p:nvSpPr>
          <p:cNvPr id="26" name="Text 24"/>
          <p:cNvSpPr/>
          <p:nvPr/>
        </p:nvSpPr>
        <p:spPr>
          <a:xfrm>
            <a:off x="9045767"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LLMs in DSS</a:t>
            </a:r>
            <a:endParaRPr lang="en-US" sz="950" dirty="0"/>
          </a:p>
        </p:txBody>
      </p:sp>
      <p:sp>
        <p:nvSpPr>
          <p:cNvPr id="27" name="Shape 25"/>
          <p:cNvSpPr/>
          <p:nvPr/>
        </p:nvSpPr>
        <p:spPr>
          <a:xfrm>
            <a:off x="10993831" y="3209544"/>
            <a:ext cx="384048" cy="384048"/>
          </a:xfrm>
          <a:prstGeom prst="ellipse">
            <a:avLst/>
          </a:prstGeom>
          <a:solidFill>
            <a:srgbClr val="B9C6D1"/>
          </a:solidFill>
          <a:ln w="12700">
            <a:solidFill>
              <a:srgbClr val="FFFFFF"/>
            </a:solidFill>
            <a:prstDash val="solid"/>
          </a:ln>
        </p:spPr>
      </p:sp>
      <p:sp>
        <p:nvSpPr>
          <p:cNvPr id="28" name="Text 26"/>
          <p:cNvSpPr/>
          <p:nvPr/>
        </p:nvSpPr>
        <p:spPr>
          <a:xfrm>
            <a:off x="10637215"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4-2</a:t>
            </a:r>
            <a:endParaRPr lang="en-US" sz="1100" dirty="0"/>
          </a:p>
        </p:txBody>
      </p:sp>
      <p:sp>
        <p:nvSpPr>
          <p:cNvPr id="29" name="Text 27"/>
          <p:cNvSpPr/>
          <p:nvPr/>
        </p:nvSpPr>
        <p:spPr>
          <a:xfrm>
            <a:off x="10500055"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AI Ethics</a:t>
            </a:r>
            <a:endParaRPr lang="en-US" sz="950" dirty="0"/>
          </a:p>
        </p:txBody>
      </p:sp>
      <p:sp>
        <p:nvSpPr>
          <p:cNvPr id="30" name="Text 28"/>
          <p:cNvSpPr/>
          <p:nvPr/>
        </p:nvSpPr>
        <p:spPr>
          <a:xfrm>
            <a:off x="1005840" y="5120640"/>
            <a:ext cx="10149840" cy="822960"/>
          </a:xfrm>
          <a:prstGeom prst="rect">
            <a:avLst/>
          </a:prstGeom>
          <a:noFill/>
          <a:ln/>
        </p:spPr>
        <p:txBody>
          <a:bodyPr wrap="square" lIns="0" tIns="0" rIns="0" bIns="0" rtlCol="0" anchor="ctr"/>
          <a:lstStyle/>
          <a:p>
            <a:pPr indent="0" marL="0">
              <a:buNone/>
            </a:pPr>
            <a:r>
              <a:rPr lang="en-US" sz="1400" i="1" dirty="0">
                <a:solidFill>
                  <a:srgbClr val="5B6B7C"/>
                </a:solidFill>
                <a:latin typeface="Calibri" pitchFamily="34" charset="0"/>
                <a:ea typeface="Calibri" pitchFamily="34" charset="-122"/>
                <a:cs typeface="Calibri" pitchFamily="34" charset="-120"/>
              </a:rPr>
              <a:t>Eight class meetings build from foundational concepts to a team-built, human-reviewed Urban AI Decision-Support Brief. Today's class is highlighted in amber above.</a:t>
            </a:r>
            <a:endParaRPr lang="en-US" sz="1400" dirty="0"/>
          </a:p>
        </p:txBody>
      </p:sp>
      <p:sp>
        <p:nvSpPr>
          <p:cNvPr id="31" name="Text 29"/>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Learning Objectives</a:t>
            </a:r>
            <a:endParaRPr lang="en-US" sz="2800" dirty="0"/>
          </a:p>
        </p:txBody>
      </p:sp>
      <p:sp>
        <p:nvSpPr>
          <p:cNvPr id="4" name="Text 2"/>
          <p:cNvSpPr/>
          <p:nvPr/>
        </p:nvSpPr>
        <p:spPr>
          <a:xfrm>
            <a:off x="640080" y="1143000"/>
            <a:ext cx="10515600" cy="365760"/>
          </a:xfrm>
          <a:prstGeom prst="rect">
            <a:avLst/>
          </a:prstGeom>
          <a:noFill/>
          <a:ln/>
        </p:spPr>
        <p:txBody>
          <a:bodyPr wrap="square" lIns="0" tIns="0" rIns="0" bIns="0" rtlCol="0" anchor="ctr"/>
          <a:lstStyle/>
          <a:p>
            <a:pPr indent="0" marL="0">
              <a:buNone/>
            </a:pPr>
            <a:r>
              <a:rPr lang="en-US" sz="1400" i="1" dirty="0">
                <a:solidFill>
                  <a:srgbClr val="5B6B7C"/>
                </a:solidFill>
                <a:latin typeface="Calibri" pitchFamily="34" charset="0"/>
                <a:ea typeface="Calibri" pitchFamily="34" charset="-122"/>
                <a:cs typeface="Calibri" pitchFamily="34" charset="-120"/>
              </a:rPr>
              <a:t>By the end of this class, you will be able to:</a:t>
            </a:r>
            <a:endParaRPr lang="en-US" sz="1400" dirty="0"/>
          </a:p>
        </p:txBody>
      </p:sp>
      <p:sp>
        <p:nvSpPr>
          <p:cNvPr id="5" name="Shape 3"/>
          <p:cNvSpPr/>
          <p:nvPr/>
        </p:nvSpPr>
        <p:spPr>
          <a:xfrm>
            <a:off x="640080" y="1737360"/>
            <a:ext cx="457200" cy="457200"/>
          </a:xfrm>
          <a:prstGeom prst="ellipse">
            <a:avLst/>
          </a:prstGeom>
          <a:solidFill>
            <a:srgbClr val="132A4C"/>
          </a:solidFill>
          <a:ln/>
        </p:spPr>
      </p:sp>
      <p:sp>
        <p:nvSpPr>
          <p:cNvPr id="6" name="Text 4"/>
          <p:cNvSpPr/>
          <p:nvPr/>
        </p:nvSpPr>
        <p:spPr>
          <a:xfrm>
            <a:off x="6400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25880" y="1691640"/>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Define urban analytics, smart cities, and Urban AI, and explain how each builds on the last.</a:t>
            </a:r>
            <a:endParaRPr lang="en-US" sz="1500" dirty="0"/>
          </a:p>
        </p:txBody>
      </p:sp>
      <p:sp>
        <p:nvSpPr>
          <p:cNvPr id="8" name="Shape 6"/>
          <p:cNvSpPr/>
          <p:nvPr/>
        </p:nvSpPr>
        <p:spPr>
          <a:xfrm>
            <a:off x="640080" y="2688336"/>
            <a:ext cx="457200" cy="457200"/>
          </a:xfrm>
          <a:prstGeom prst="ellipse">
            <a:avLst/>
          </a:prstGeom>
          <a:solidFill>
            <a:srgbClr val="132A4C"/>
          </a:solidFill>
          <a:ln/>
        </p:spPr>
      </p:sp>
      <p:sp>
        <p:nvSpPr>
          <p:cNvPr id="9" name="Text 7"/>
          <p:cNvSpPr/>
          <p:nvPr/>
        </p:nvSpPr>
        <p:spPr>
          <a:xfrm>
            <a:off x="640080" y="2688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325880" y="2642616"/>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Describe the standard planning decision-making process and where data and models enter it.</a:t>
            </a:r>
            <a:endParaRPr lang="en-US" sz="1500" dirty="0"/>
          </a:p>
        </p:txBody>
      </p:sp>
      <p:sp>
        <p:nvSpPr>
          <p:cNvPr id="11" name="Shape 9"/>
          <p:cNvSpPr/>
          <p:nvPr/>
        </p:nvSpPr>
        <p:spPr>
          <a:xfrm>
            <a:off x="640080" y="3639312"/>
            <a:ext cx="457200" cy="457200"/>
          </a:xfrm>
          <a:prstGeom prst="ellipse">
            <a:avLst/>
          </a:prstGeom>
          <a:solidFill>
            <a:srgbClr val="132A4C"/>
          </a:solidFill>
          <a:ln/>
        </p:spPr>
      </p:sp>
      <p:sp>
        <p:nvSpPr>
          <p:cNvPr id="12" name="Text 10"/>
          <p:cNvSpPr/>
          <p:nvPr/>
        </p:nvSpPr>
        <p:spPr>
          <a:xfrm>
            <a:off x="640080" y="36393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325880" y="3593592"/>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Explain what a Decision Support System (DSS) is and preview the five DSS categories covered later in the course.</a:t>
            </a:r>
            <a:endParaRPr lang="en-US" sz="1500" dirty="0"/>
          </a:p>
        </p:txBody>
      </p:sp>
      <p:sp>
        <p:nvSpPr>
          <p:cNvPr id="14" name="Shape 12"/>
          <p:cNvSpPr/>
          <p:nvPr/>
        </p:nvSpPr>
        <p:spPr>
          <a:xfrm>
            <a:off x="640080" y="4590288"/>
            <a:ext cx="457200" cy="457200"/>
          </a:xfrm>
          <a:prstGeom prst="ellipse">
            <a:avLst/>
          </a:prstGeom>
          <a:solidFill>
            <a:srgbClr val="132A4C"/>
          </a:solidFill>
          <a:ln/>
        </p:spPr>
      </p:sp>
      <p:sp>
        <p:nvSpPr>
          <p:cNvPr id="15" name="Text 13"/>
          <p:cNvSpPr/>
          <p:nvPr/>
        </p:nvSpPr>
        <p:spPr>
          <a:xfrm>
            <a:off x="64008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325880" y="4544568"/>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Identify at least two real, deployed Urban AI or smart-city systems and describe what they do.</a:t>
            </a:r>
            <a:endParaRPr lang="en-US" sz="1500" dirty="0"/>
          </a:p>
        </p:txBody>
      </p:sp>
      <p:sp>
        <p:nvSpPr>
          <p:cNvPr id="17" name="Shape 15"/>
          <p:cNvSpPr/>
          <p:nvPr/>
        </p:nvSpPr>
        <p:spPr>
          <a:xfrm>
            <a:off x="640080" y="5541264"/>
            <a:ext cx="457200" cy="457200"/>
          </a:xfrm>
          <a:prstGeom prst="ellipse">
            <a:avLst/>
          </a:prstGeom>
          <a:solidFill>
            <a:srgbClr val="132A4C"/>
          </a:solidFill>
          <a:ln/>
        </p:spPr>
      </p:sp>
      <p:sp>
        <p:nvSpPr>
          <p:cNvPr id="18" name="Text 16"/>
          <p:cNvSpPr/>
          <p:nvPr/>
        </p:nvSpPr>
        <p:spPr>
          <a:xfrm>
            <a:off x="640080" y="55412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325880" y="5495544"/>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Recognize why algorithmic tools used in city government carry higher stakes than typical consumer software.</a:t>
            </a:r>
            <a:endParaRPr lang="en-US" sz="1500" dirty="0"/>
          </a:p>
        </p:txBody>
      </p:sp>
      <p:sp>
        <p:nvSpPr>
          <p:cNvPr id="20" name="Text 1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What Is Urban Analytics?</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Urban analytics is the systematic use of data — statistics, GIS, sensors, records — to understand how a city actually functions: how people move, where services are requested, how land is used, how neighborhoods change.</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It is descriptive first: dashboards, maps, and reports that show planners and residents what is happening, before any prediction or automation is added.</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Common inputs: 311 service requests, permit records, census/ACS data, traffic counts, transit ridership, building and parcel data.</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Urban analytics is the foundation everything else in this course builds on — you cannot do Urban AI without it.</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KEY TERM</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“Urban analytics” = data-driven understanding of a city, without necessarily any automation or prediction.</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From Smart Cities to Urban AI</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 smart city layers sensors, connectivity, and real-time data feeds onto urban analytics — traffic cameras, air-quality sensors, IoT infrastructure — to monitor conditions continuously rather than periodically.</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Barcelona's Sentilo platform is a real, widely cited open-source IoT data hub that many Spanish and Latin American cities use to unify sensor feeds from lighting, irrigation, waste, and parking.</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Urban AI adds a further layer: machine learning and, increasingly, generative AI models that analyze those feeds and help recommend or automate decisions — not just display data.</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The progression matters for this course: every Urban AI tool you'll evaluate sits on top of an analytics and (often) a smart-city data layer.</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THE STACK</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Urban Analytics  →  Smart City Infrastructure  →  Urban AI (prediction &amp; decision support)</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32A4C"/>
          </a:solidFill>
          <a:ln/>
        </p:spPr>
      </p:sp>
      <p:sp>
        <p:nvSpPr>
          <p:cNvPr id="3" name="Text 1"/>
          <p:cNvSpPr/>
          <p:nvPr/>
        </p:nvSpPr>
        <p:spPr>
          <a:xfrm>
            <a:off x="640080" y="256032"/>
            <a:ext cx="36576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CASE STUDY</a:t>
            </a:r>
            <a:endParaRPr lang="en-US" sz="1200" dirty="0"/>
          </a:p>
        </p:txBody>
      </p:sp>
      <p:sp>
        <p:nvSpPr>
          <p:cNvPr id="4" name="Text 2"/>
          <p:cNvSpPr/>
          <p:nvPr/>
        </p:nvSpPr>
        <p:spPr>
          <a:xfrm>
            <a:off x="640080" y="566928"/>
            <a:ext cx="10881360" cy="7772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Chicago — WindyGrid &amp; the OEMC Situational Dashboard</a:t>
            </a:r>
            <a:endParaRPr lang="en-US" sz="2400" dirty="0"/>
          </a:p>
        </p:txBody>
      </p:sp>
      <p:sp>
        <p:nvSpPr>
          <p:cNvPr id="5" name="Text 3"/>
          <p:cNvSpPr/>
          <p:nvPr/>
        </p:nvSpPr>
        <p:spPr>
          <a:xfrm>
            <a:off x="640080" y="1737360"/>
            <a:ext cx="6949440" cy="411480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Chicago's Office of Emergency Management and Communications built WindyGrid, a real-time situational-awareness dashboard that pulls together 311 requests, weather, traffic-camera, and incident feeds on a single city map.</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 is a data-driven decision support tool: it does not decide anything by itself, but it lets dispatchers and planners see patterns (e.g., clustered complaints) that would be invisible in separate spreadsheets.</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 grew out of Chicago's broader open-data and 'Array of Things' sensor-network program, which places environmental and infrastructure sensors on city light poles.</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This is a useful entry-level example precisely because it is not AI at all yet — it's the analytics/smart-city layer that a predictive layer could later be added onto.</a:t>
            </a:r>
            <a:endParaRPr lang="en-US" sz="1450" dirty="0"/>
          </a:p>
        </p:txBody>
      </p:sp>
      <p:sp>
        <p:nvSpPr>
          <p:cNvPr id="6" name="Shape 4"/>
          <p:cNvSpPr/>
          <p:nvPr/>
        </p:nvSpPr>
        <p:spPr>
          <a:xfrm>
            <a:off x="7863840" y="1737360"/>
            <a:ext cx="3703320" cy="3931920"/>
          </a:xfrm>
          <a:prstGeom prst="roundRect">
            <a:avLst>
              <a:gd name="adj" fmla="val 1975"/>
            </a:avLst>
          </a:prstGeom>
          <a:solidFill>
            <a:srgbClr val="FCEFDC"/>
          </a:solidFill>
          <a:ln/>
        </p:spPr>
      </p:sp>
      <p:sp>
        <p:nvSpPr>
          <p:cNvPr id="7" name="Text 5"/>
          <p:cNvSpPr/>
          <p:nvPr/>
        </p:nvSpPr>
        <p:spPr>
          <a:xfrm>
            <a:off x="8092440" y="1920240"/>
            <a:ext cx="3291840" cy="320040"/>
          </a:xfrm>
          <a:prstGeom prst="rect">
            <a:avLst/>
          </a:prstGeom>
          <a:noFill/>
          <a:ln/>
        </p:spPr>
        <p:txBody>
          <a:bodyPr wrap="square" lIns="0" tIns="0" rIns="0" bIns="0" rtlCol="0" anchor="ctr"/>
          <a:lstStyle/>
          <a:p>
            <a:pPr indent="0" marL="0">
              <a:buNone/>
            </a:pPr>
            <a:r>
              <a:rPr lang="en-US" sz="1100" b="1" spc="100" kern="0" dirty="0">
                <a:solidFill>
                  <a:srgbClr val="8A5A12"/>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8092440" y="2286000"/>
            <a:ext cx="3246120" cy="3200400"/>
          </a:xfrm>
          <a:prstGeom prst="rect">
            <a:avLst/>
          </a:prstGeom>
          <a:noFill/>
          <a:ln/>
        </p:spPr>
        <p:txBody>
          <a:bodyPr wrap="square" lIns="0" tIns="0" rIns="0" bIns="0" rtlCol="0" anchor="t"/>
          <a:lstStyle/>
          <a:p>
            <a:pPr indent="0" marL="0">
              <a:lnSpc>
                <a:spcPct val="120000"/>
              </a:lnSpc>
              <a:buNone/>
            </a:pPr>
            <a:r>
              <a:rPr lang="en-US" sz="1350" dirty="0">
                <a:solidFill>
                  <a:srgbClr val="1B2A3D"/>
                </a:solidFill>
                <a:latin typeface="Calibri" pitchFamily="34" charset="0"/>
                <a:ea typeface="Calibri" pitchFamily="34" charset="-122"/>
                <a:cs typeface="Calibri" pitchFamily="34" charset="-120"/>
              </a:rPr>
              <a:t>WindyGrid shows the un-glamorous but essential first step of Urban AI: getting messy, siloed city data into one place a human can actually look at. Most Urban AI failures trace back to skipping this step.</a:t>
            </a:r>
            <a:endParaRPr lang="en-US" sz="1350" dirty="0"/>
          </a:p>
        </p:txBody>
      </p:sp>
      <p:sp>
        <p:nvSpPr>
          <p:cNvPr id="9" name="Text 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10"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32A4C"/>
          </a:solidFill>
          <a:ln/>
        </p:spPr>
      </p:sp>
      <p:sp>
        <p:nvSpPr>
          <p:cNvPr id="3" name="Text 1"/>
          <p:cNvSpPr/>
          <p:nvPr/>
        </p:nvSpPr>
        <p:spPr>
          <a:xfrm>
            <a:off x="640080" y="256032"/>
            <a:ext cx="36576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CASE STUDY</a:t>
            </a:r>
            <a:endParaRPr lang="en-US" sz="1200" dirty="0"/>
          </a:p>
        </p:txBody>
      </p:sp>
      <p:sp>
        <p:nvSpPr>
          <p:cNvPr id="4" name="Text 2"/>
          <p:cNvSpPr/>
          <p:nvPr/>
        </p:nvSpPr>
        <p:spPr>
          <a:xfrm>
            <a:off x="640080" y="566928"/>
            <a:ext cx="10881360" cy="7772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Los Angeles — ATSAC Adaptive Traffic Signal Control</a:t>
            </a:r>
            <a:endParaRPr lang="en-US" sz="2400" dirty="0"/>
          </a:p>
        </p:txBody>
      </p:sp>
      <p:sp>
        <p:nvSpPr>
          <p:cNvPr id="5" name="Text 3"/>
          <p:cNvSpPr/>
          <p:nvPr/>
        </p:nvSpPr>
        <p:spPr>
          <a:xfrm>
            <a:off x="640080" y="1737360"/>
            <a:ext cx="6949440" cy="411480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The Automated Traffic Surveillance and Control (ATSAC) system, built for the 1984 Olympics and still operating today, adjusts LA's traffic signal timing in real time based on live traffic sensor data.</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 is one of the earliest real-world examples of an automated urban decision system: the software recommends and, for many intersections, directly implements signal timing changes.</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 sits closer to the 'Urban AI' end of the stack than WindyGrid because it moves from showing data to acting on it, even though its core logic is closer to classical control engineering than modern machine learning.</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Decades of incremental expansion illustrate a theme you'll see all course: successful Urban AI systems are usually built up slowly and audited continuously, not deployed all at once.</a:t>
            </a:r>
            <a:endParaRPr lang="en-US" sz="1450" dirty="0"/>
          </a:p>
        </p:txBody>
      </p:sp>
      <p:sp>
        <p:nvSpPr>
          <p:cNvPr id="6" name="Shape 4"/>
          <p:cNvSpPr/>
          <p:nvPr/>
        </p:nvSpPr>
        <p:spPr>
          <a:xfrm>
            <a:off x="7863840" y="1737360"/>
            <a:ext cx="3703320" cy="3931920"/>
          </a:xfrm>
          <a:prstGeom prst="roundRect">
            <a:avLst>
              <a:gd name="adj" fmla="val 1975"/>
            </a:avLst>
          </a:prstGeom>
          <a:solidFill>
            <a:srgbClr val="FCEFDC"/>
          </a:solidFill>
          <a:ln/>
        </p:spPr>
      </p:sp>
      <p:sp>
        <p:nvSpPr>
          <p:cNvPr id="7" name="Text 5"/>
          <p:cNvSpPr/>
          <p:nvPr/>
        </p:nvSpPr>
        <p:spPr>
          <a:xfrm>
            <a:off x="8092440" y="1920240"/>
            <a:ext cx="3291840" cy="320040"/>
          </a:xfrm>
          <a:prstGeom prst="rect">
            <a:avLst/>
          </a:prstGeom>
          <a:noFill/>
          <a:ln/>
        </p:spPr>
        <p:txBody>
          <a:bodyPr wrap="square" lIns="0" tIns="0" rIns="0" bIns="0" rtlCol="0" anchor="ctr"/>
          <a:lstStyle/>
          <a:p>
            <a:pPr indent="0" marL="0">
              <a:buNone/>
            </a:pPr>
            <a:r>
              <a:rPr lang="en-US" sz="1100" b="1" spc="100" kern="0" dirty="0">
                <a:solidFill>
                  <a:srgbClr val="8A5A12"/>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8092440" y="2286000"/>
            <a:ext cx="3246120" cy="3200400"/>
          </a:xfrm>
          <a:prstGeom prst="rect">
            <a:avLst/>
          </a:prstGeom>
          <a:noFill/>
          <a:ln/>
        </p:spPr>
        <p:txBody>
          <a:bodyPr wrap="square" lIns="0" tIns="0" rIns="0" bIns="0" rtlCol="0" anchor="t"/>
          <a:lstStyle/>
          <a:p>
            <a:pPr indent="0" marL="0">
              <a:lnSpc>
                <a:spcPct val="120000"/>
              </a:lnSpc>
              <a:buNone/>
            </a:pPr>
            <a:r>
              <a:rPr lang="en-US" sz="1350" dirty="0">
                <a:solidFill>
                  <a:srgbClr val="1B2A3D"/>
                </a:solidFill>
                <a:latin typeface="Calibri" pitchFamily="34" charset="0"/>
                <a:ea typeface="Calibri" pitchFamily="34" charset="-122"/>
                <a:cs typeface="Calibri" pitchFamily="34" charset="-120"/>
              </a:rPr>
              <a:t>ATSAC shows the difference between a dashboard (WindyGrid) and a system that closes the loop and acts. That's exactly the boundary this course asks you to think critically about: when should software just inform a human, and when should it act directly?</a:t>
            </a:r>
            <a:endParaRPr lang="en-US" sz="1350" dirty="0"/>
          </a:p>
        </p:txBody>
      </p:sp>
      <p:sp>
        <p:nvSpPr>
          <p:cNvPr id="9" name="Text 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10"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The Planning Decision-Making Process</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Urban decisions typically move through a recognizable sequence: (1) frame the problem, (2) identify stakeholders, (3) gather data and analysis, (4) generate alternatives, (5) evaluate tradeoffs against criteria, (6) decide, (7) implement, (8) monitor and adjust.</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This is the process your team will practice all course, and it is also the skeleton of your final Decision-Support Brief.</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Urban AI tools can support almost every step — but they cannot replace step 2 (stakeholders) or step 6 (the actual decision), which remain human responsibilities.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Where a DSS is introduced into this process, and by whom it's reviewed, is itself a decision planners have to make deliberately.</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REMEMBER</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AI may draft; humans decide. This process, not the software, is what you're being taught.</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What Is a Decision Support System (DSS)?</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 DSS is any tool — software, model, or structured process — that helps a decision-maker analyze information and evaluate alternatives, without making the final decision itself.</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DSSs predate AI by decades; spreadsheets and GIS overlay maps are DSSs. What's new is adding machine learning and LLMs as components inside them.</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This course groups DSSs into five categories — data-driven, model-driven, knowledge-driven, communication-driven, and document-driven — covered in depth in Classes 3-1 and 3-2.</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For now, the working definition is enough: a DSS informs a human decision; it does not replace one.</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PREVIEW</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Data-driven · Model-driven · Knowledge-driven · Communication-driven · Document-driven</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Worked Example: Siting a Pocket Park</a:t>
            </a:r>
            <a:endParaRPr lang="en-US" sz="2800" dirty="0"/>
          </a:p>
        </p:txBody>
      </p:sp>
      <p:sp>
        <p:nvSpPr>
          <p:cNvPr id="4" name="Shape 2"/>
          <p:cNvSpPr/>
          <p:nvPr/>
        </p:nvSpPr>
        <p:spPr>
          <a:xfrm>
            <a:off x="640080" y="1307592"/>
            <a:ext cx="402336" cy="402336"/>
          </a:xfrm>
          <a:prstGeom prst="ellipse">
            <a:avLst/>
          </a:prstGeom>
          <a:solidFill>
            <a:srgbClr val="132A4C"/>
          </a:solidFill>
          <a:ln/>
        </p:spPr>
      </p:sp>
      <p:sp>
        <p:nvSpPr>
          <p:cNvPr id="5" name="Text 3"/>
          <p:cNvSpPr/>
          <p:nvPr/>
        </p:nvSpPr>
        <p:spPr>
          <a:xfrm>
            <a:off x="640080" y="1307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34440" y="1280160"/>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Frame the problem: a neighborhood association wants to identify the best vacant lot for a new pocket park among three candidate parcels.</a:t>
            </a:r>
            <a:endParaRPr lang="en-US" sz="1400" dirty="0"/>
          </a:p>
        </p:txBody>
      </p:sp>
      <p:sp>
        <p:nvSpPr>
          <p:cNvPr id="7" name="Shape 5"/>
          <p:cNvSpPr/>
          <p:nvPr/>
        </p:nvSpPr>
        <p:spPr>
          <a:xfrm>
            <a:off x="640080" y="2304288"/>
            <a:ext cx="402336" cy="402336"/>
          </a:xfrm>
          <a:prstGeom prst="ellipse">
            <a:avLst/>
          </a:prstGeom>
          <a:solidFill>
            <a:srgbClr val="132A4C"/>
          </a:solidFill>
          <a:ln/>
        </p:spPr>
      </p:sp>
      <p:sp>
        <p:nvSpPr>
          <p:cNvPr id="8" name="Text 6"/>
          <p:cNvSpPr/>
          <p:nvPr/>
        </p:nvSpPr>
        <p:spPr>
          <a:xfrm>
            <a:off x="640080" y="23042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234440" y="2276856"/>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Gather data: for each parcel, note walkability (distance from residences), sun exposure, and soil/drainage condition — three simple, checkable criteria.</a:t>
            </a:r>
            <a:endParaRPr lang="en-US" sz="1400" dirty="0"/>
          </a:p>
        </p:txBody>
      </p:sp>
      <p:sp>
        <p:nvSpPr>
          <p:cNvPr id="10" name="Shape 8"/>
          <p:cNvSpPr/>
          <p:nvPr/>
        </p:nvSpPr>
        <p:spPr>
          <a:xfrm>
            <a:off x="640080" y="3300984"/>
            <a:ext cx="402336" cy="402336"/>
          </a:xfrm>
          <a:prstGeom prst="ellipse">
            <a:avLst/>
          </a:prstGeom>
          <a:solidFill>
            <a:srgbClr val="132A4C"/>
          </a:solidFill>
          <a:ln/>
        </p:spPr>
      </p:sp>
      <p:sp>
        <p:nvSpPr>
          <p:cNvPr id="11" name="Text 9"/>
          <p:cNvSpPr/>
          <p:nvPr/>
        </p:nvSpPr>
        <p:spPr>
          <a:xfrm>
            <a:off x="640080" y="3300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234440" y="3273552"/>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Score qualitatively: rate each parcel High/Medium/Low on each criterion instead of inventing false-precision numbers.</a:t>
            </a:r>
            <a:endParaRPr lang="en-US" sz="1400" dirty="0"/>
          </a:p>
        </p:txBody>
      </p:sp>
      <p:sp>
        <p:nvSpPr>
          <p:cNvPr id="13" name="Shape 11"/>
          <p:cNvSpPr/>
          <p:nvPr/>
        </p:nvSpPr>
        <p:spPr>
          <a:xfrm>
            <a:off x="640080" y="4297680"/>
            <a:ext cx="402336" cy="402336"/>
          </a:xfrm>
          <a:prstGeom prst="ellipse">
            <a:avLst/>
          </a:prstGeom>
          <a:solidFill>
            <a:srgbClr val="132A4C"/>
          </a:solidFill>
          <a:ln/>
        </p:spPr>
      </p:sp>
      <p:sp>
        <p:nvSpPr>
          <p:cNvPr id="14" name="Text 12"/>
          <p:cNvSpPr/>
          <p:nvPr/>
        </p:nvSpPr>
        <p:spPr>
          <a:xfrm>
            <a:off x="640080" y="4297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234440" y="4270248"/>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Compare tradeoffs: Parcel A might have the best walkability but poor drainage; Parcel B might be sunnier but farther from residents.</a:t>
            </a:r>
            <a:endParaRPr lang="en-US" sz="1400" dirty="0"/>
          </a:p>
        </p:txBody>
      </p:sp>
      <p:sp>
        <p:nvSpPr>
          <p:cNvPr id="16" name="Shape 14"/>
          <p:cNvSpPr/>
          <p:nvPr/>
        </p:nvSpPr>
        <p:spPr>
          <a:xfrm>
            <a:off x="640080" y="5294376"/>
            <a:ext cx="402336" cy="402336"/>
          </a:xfrm>
          <a:prstGeom prst="ellipse">
            <a:avLst/>
          </a:prstGeom>
          <a:solidFill>
            <a:srgbClr val="132A4C"/>
          </a:solidFill>
          <a:ln/>
        </p:spPr>
      </p:sp>
      <p:sp>
        <p:nvSpPr>
          <p:cNvPr id="17" name="Text 15"/>
          <p:cNvSpPr/>
          <p:nvPr/>
        </p:nvSpPr>
        <p:spPr>
          <a:xfrm>
            <a:off x="640080" y="5294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234440" y="5266944"/>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Human decision: planners and residents weigh which criterion matters most for their goals, then decide together — the analysis narrowed the choice, it did not make it.</a:t>
            </a:r>
            <a:endParaRPr lang="en-US" sz="1400" dirty="0"/>
          </a:p>
        </p:txBody>
      </p:sp>
      <p:sp>
        <p:nvSpPr>
          <p:cNvPr id="19" name="Text 1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Entry-Level Urban AI: What It Is and Isn't</a:t>
            </a:r>
            <a:endParaRPr lang="en-US" sz="2800" dirty="0"/>
          </a:p>
        </p:txBody>
      </p:sp>
      <p:sp>
        <p:nvSpPr>
          <p:cNvPr id="4" name="Text 2"/>
          <p:cNvSpPr/>
          <p:nvPr/>
        </p:nvSpPr>
        <p:spPr>
          <a:xfrm>
            <a:off x="640080" y="1234440"/>
            <a:ext cx="1051560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Urban AI = applying machine learning or generative AI within the urban analytics / smart-city stack to help forecast conditions, recommend actions, or communicate results — always as decision support, not decision replacement.</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It is not a single product; it's a pattern that shows up inside dashboards (WindyGrid-style), simulations, optimization tools, and now LLM-based assistants.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The same governance question applies every time: who reviews the output before it affects a real person or a real budget?</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Over the next seven classes you will build the vocabulary and a working project (your team's Decision-Support Brief) to answer that question concretely.</a:t>
            </a:r>
            <a:endParaRPr lang="en-US" sz="1500" dirty="0"/>
          </a:p>
        </p:txBody>
      </p:sp>
      <p:sp>
        <p:nvSpPr>
          <p:cNvPr id="5" name="Text 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Common Misconceptions About Urban AI</a:t>
            </a:r>
            <a:endParaRPr lang="en-US" sz="2800" dirty="0"/>
          </a:p>
        </p:txBody>
      </p:sp>
      <p:sp>
        <p:nvSpPr>
          <p:cNvPr id="4" name="Shape 2"/>
          <p:cNvSpPr/>
          <p:nvPr/>
        </p:nvSpPr>
        <p:spPr>
          <a:xfrm>
            <a:off x="640080" y="1188720"/>
            <a:ext cx="10881360" cy="4892040"/>
          </a:xfrm>
          <a:prstGeom prst="roundRect">
            <a:avLst>
              <a:gd name="adj" fmla="val 1308"/>
            </a:avLst>
          </a:prstGeom>
          <a:solidFill>
            <a:srgbClr val="FCEFDC"/>
          </a:solidFill>
          <a:ln/>
        </p:spPr>
      </p:sp>
      <p:sp>
        <p:nvSpPr>
          <p:cNvPr id="5" name="Text 3"/>
          <p:cNvSpPr/>
          <p:nvPr/>
        </p:nvSpPr>
        <p:spPr>
          <a:xfrm>
            <a:off x="1005840" y="1463040"/>
            <a:ext cx="10149840" cy="438912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“AI decides” — in almost every legitimate deployment, a human retains and exercises final authority; the software recommends.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“More data automatically means a better decision” — more data can also mean more noise, more privacy risk, and more room for hidden bias if it isn't representative.</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“Algorithms are neutral because they're math” — every model reflects choices its designers made (what data, what criteria, what weights) and can encode the biases in its inputs.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“If a city built it, it must have been vetted” — cities deploy tools under real time and budget pressure, just like anyone else, and mistakes make it to production regularly.</a:t>
            </a:r>
            <a:endParaRPr lang="en-US" sz="150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What Could Go Wrong: The SyRI Case (Netherlands)</a:t>
            </a:r>
            <a:endParaRPr lang="en-US" sz="2800" dirty="0"/>
          </a:p>
        </p:txBody>
      </p:sp>
      <p:sp>
        <p:nvSpPr>
          <p:cNvPr id="4" name="Shape 2"/>
          <p:cNvSpPr/>
          <p:nvPr/>
        </p:nvSpPr>
        <p:spPr>
          <a:xfrm>
            <a:off x="640080" y="1188720"/>
            <a:ext cx="10881360" cy="4892040"/>
          </a:xfrm>
          <a:prstGeom prst="roundRect">
            <a:avLst>
              <a:gd name="adj" fmla="val 1308"/>
            </a:avLst>
          </a:prstGeom>
          <a:solidFill>
            <a:srgbClr val="FCEFDC"/>
          </a:solidFill>
          <a:ln/>
        </p:spPr>
      </p:sp>
      <p:sp>
        <p:nvSpPr>
          <p:cNvPr id="5" name="Text 3"/>
          <p:cNvSpPr/>
          <p:nvPr/>
        </p:nvSpPr>
        <p:spPr>
          <a:xfrm>
            <a:off x="1005840" y="1463040"/>
            <a:ext cx="10149840" cy="438912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SyRI (System Risk Indication) was an algorithm the Dutch government, including several municipalities, used to flag households for welfare-fraud investigation by combining data from tax, housing, employment, and other government registries.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In February 2020, a Dutch court ruled SyRI illegal, finding it violated the European Convention on Human Rights — the system disproportionately targeted low-income and immigrant neighborhoods and operated with too little transparency for residents to contest being flagged.</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The failure wasn't a coding bug: it was a governance failure — no meaningful human review path, no transparency about why someone was flagged, and criteria that correlated with protected characteristics.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This is the pattern this course trains you to prevent: document your assumptions, name who reviews outputs, and make sure someone flagged by a system can find out why and contest it.</a:t>
            </a:r>
            <a:endParaRPr lang="en-US" sz="150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BREAKOUT ACTIVITY</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Breakout: Spot the Stack in Your City</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In teams of 3–4, pick a city any teammate knows well.</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Identify one urban analytics or smart-city tool that city already uses (a dashboard, sensor network, or 311-style app).</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Sketch how that tool could evolve into an Urban AI-enhanced DSS — what would it predict or recommend?</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Write one open question your team has about who should be allowed to act on that recommendation.</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Be ready to share your city, your tool, and your open question in 60 seconds.</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UP NEXT</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Up Next: Lab 0 — AI in the Browser + First Colab</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Lab 0 happens at the start of Meeting 2, right after Class 1-2 (AI Basics).</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Track A (no code): use a chat-based AI tool to prompt, critique, and log one urban question.</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Track B (Colab): run a 10-cell guided notebook that loads a city 311 dataset, plots it, and asks an LLM to summarize it.</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Either track produces your first AI Use Log entry — bring a laptop or tablet.</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DELIVERABLE DUE NEXT</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Deliverable Due Next: Responsible AI Agreement + Pre-Survey</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Individual deliverable, due before Meeting 2.</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Read and sign the one-page Responsible AI Agreement covering approved tools, the AI Use Log requirement, and the disclosure policy.</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Complete the short AI-readiness pre-survey (self-assessment, not graded on 'correct' answers).</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Bring questions about the agreement to the start of Meeting 2 — five minutes will be reserved for them.</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Analytics, Smart Cities, and Urban AI</dc:title>
  <dc:subject>PptxGenJS Presentation</dc:subject>
  <dc:creator>Urban AI · MSU AI-Ready Initiative</dc:creator>
  <cp:lastModifiedBy>Urban AI · MSU AI-Ready Initiative</cp:lastModifiedBy>
  <cp:revision>1</cp:revision>
  <dcterms:created xsi:type="dcterms:W3CDTF">2026-08-11T12:52:23Z</dcterms:created>
  <dcterms:modified xsi:type="dcterms:W3CDTF">2026-08-11T12:52:23Z</dcterms:modified>
</cp:coreProperties>
</file>