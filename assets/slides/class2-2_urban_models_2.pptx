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p-median problem is a real, citable operations-research concept (facility location) — useful for grounding students in the idea that 'optimization' isn't mysterious AI magic, it's decades-old applied math with an explicit, chosen objective.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Distinguish this clearly from single-answer optimization on the previous slide — scenario testing is about comparing several deliberately different futures, not converging on one. This distinction matters for Lab 6 (DSS AI Lab), which is a scenario-comparison exercise.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multi-year, public nature of this process — it's a strong contrast to a purely technical optimization run behind closed doors. Good link forward to the participation theme in Class 4-2.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students ask what an MPO is, explain briefly: a federally required regional body that coordinates transportation planning and funding across a metro area — CMAP is real and can be looked up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sets up both the worked example and the sensitivity-analysis slide that follow. The weighted-sum method previewed here is exactly what Lab 5 (Risk-Response DSS) will have students build by hand in a spreadsheet.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example directly rehearses Lab 5's method. The last step is the pedagogical point — make sure students actually try re-weighting by hand or verbally before moving on, since that's exactly what the sensitivity-analysis slide formalizes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explicitly to Lab 5 again. This is a good moment to ask: 'if you were presenting this to a city council, would you show only the winning scenario, or the sensitivity range too?' — most students will say the range once prompted.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'not everything quantifiable' misconception is worth dwelling on — ask students to name a real planning value that resists scoring (e.g., neighborhood identity, trust in government) and discuss how a team might still document it even without a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Pair this explicitly with the Syracuse case from Class 2-1 if students remember it — both are real, well-documented mid-20th-century highway-era planning failures, and both trace back to the same root cause: an incomplete criteria/objective set treated as if it were complete.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A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2926080" cy="2926080"/>
          </a:xfrm>
          <a:prstGeom prst="ellipse">
            <a:avLst/>
          </a:prstGeom>
          <a:solidFill>
            <a:srgbClr val="0F3A63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5029200"/>
            <a:ext cx="1463040" cy="1463040"/>
          </a:xfrm>
          <a:prstGeom prst="ellipse">
            <a:avLst/>
          </a:prstGeom>
          <a:solidFill>
            <a:srgbClr val="1E7A8C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576072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2-2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Urban Analytic Models II: Optimization &amp; Scenario Testing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AI: AI-Driven Decision Support for Real-World Urban Challenges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39319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Chen, Ph.D.
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minutes (Class segment of Meeting 4)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MSU AI-Ready Initiative · Non-Credit Learning Experience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 · MSU AI-Ready Initiative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84048" cy="384048"/>
          </a:xfrm>
          <a:prstGeom prst="ellipse">
            <a:avLst/>
          </a:prstGeom>
          <a:solidFill>
            <a:srgbClr val="1E7A8C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4114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05840" y="3401568"/>
            <a:ext cx="10180015" cy="0"/>
          </a:xfrm>
          <a:prstGeom prst="line">
            <a:avLst/>
          </a:prstGeom>
          <a:noFill/>
          <a:ln w="25400">
            <a:solidFill>
              <a:srgbClr val="CCD6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3816" y="3209544"/>
            <a:ext cx="384048" cy="384048"/>
          </a:xfrm>
          <a:prstGeom prst="ellipse">
            <a:avLst/>
          </a:prstGeom>
          <a:solidFill>
            <a:srgbClr val="1E7A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794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4069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268104" y="3209544"/>
            <a:ext cx="384048" cy="384048"/>
          </a:xfrm>
          <a:prstGeom prst="ellipse">
            <a:avLst/>
          </a:prstGeom>
          <a:solidFill>
            <a:srgbClr val="1E7A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11488" y="3794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74328" y="4069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Basics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722392" y="3209544"/>
            <a:ext cx="384048" cy="384048"/>
          </a:xfrm>
          <a:prstGeom prst="ellipse">
            <a:avLst/>
          </a:prstGeom>
          <a:solidFill>
            <a:srgbClr val="1E7A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5776" y="3794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28616" y="4069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I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85240" y="3118104"/>
            <a:ext cx="566928" cy="566928"/>
          </a:xfrm>
          <a:prstGeom prst="ellipse">
            <a:avLst/>
          </a:prstGeom>
          <a:solidFill>
            <a:srgbClr val="E8A3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02944" y="326440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20064" y="3794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82904" y="4069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II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630968" y="3209544"/>
            <a:ext cx="384048" cy="384048"/>
          </a:xfrm>
          <a:prstGeom prst="ellipse">
            <a:avLst/>
          </a:prstGeom>
          <a:solidFill>
            <a:srgbClr val="B9C6D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74352" y="3794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37192" y="4069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DSS Cases I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085255" y="3209544"/>
            <a:ext cx="384048" cy="384048"/>
          </a:xfrm>
          <a:prstGeom prst="ellipse">
            <a:avLst/>
          </a:prstGeom>
          <a:solidFill>
            <a:srgbClr val="B9C6D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28639" y="3794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591479" y="4069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DSS Cases II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539543" y="3209544"/>
            <a:ext cx="384048" cy="384048"/>
          </a:xfrm>
          <a:prstGeom prst="ellipse">
            <a:avLst/>
          </a:prstGeom>
          <a:solidFill>
            <a:srgbClr val="B9C6D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82927" y="3794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045767" y="4069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DSS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0993831" y="3209544"/>
            <a:ext cx="384048" cy="384048"/>
          </a:xfrm>
          <a:prstGeom prst="ellipse">
            <a:avLst/>
          </a:prstGeom>
          <a:solidFill>
            <a:srgbClr val="B9C6D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37215" y="3794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500055" y="4069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Ethics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005840" y="512064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class meetings build from foundational concepts to a team-built, human-reviewed Urban AI Decision-Support Brief. Today's class is highlighted in amber above.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 · MSU AI-Ready Initiative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4114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class, you will be able to: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132A4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691640"/>
            <a:ext cx="101498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optimization in a planning context and explain the idea of an objective function with constraints.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688336"/>
            <a:ext cx="457200" cy="457200"/>
          </a:xfrm>
          <a:prstGeom prst="ellipse">
            <a:avLst/>
          </a:prstGeom>
          <a:solidFill>
            <a:srgbClr val="132A4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88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2642616"/>
            <a:ext cx="101498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scenario testing is and why planners compare multiple futures instead of picking one.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639312"/>
            <a:ext cx="457200" cy="457200"/>
          </a:xfrm>
          <a:prstGeom prst="ellipse">
            <a:avLst/>
          </a:prstGeom>
          <a:solidFill>
            <a:srgbClr val="132A4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639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25880" y="3593592"/>
            <a:ext cx="101498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two real scenario-planning or optimization efforts used by U.S. metropolitan regions.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590288"/>
            <a:ext cx="457200" cy="457200"/>
          </a:xfrm>
          <a:prstGeom prst="ellipse">
            <a:avLst/>
          </a:prstGeom>
          <a:solidFill>
            <a:srgbClr val="132A4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590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25880" y="4544568"/>
            <a:ext cx="101498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a simple weighted tradeoff comparison across three alternatives.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5541264"/>
            <a:ext cx="457200" cy="457200"/>
          </a:xfrm>
          <a:prstGeom prst="ellipse">
            <a:avLst/>
          </a:prstGeom>
          <a:solidFill>
            <a:srgbClr val="132A4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5541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5495544"/>
            <a:ext cx="101498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changing criteria weights can change which alternative appears 'optimal,' and why that matters ethically.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 · MSU AI-Ready Initiative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84048" cy="384048"/>
          </a:xfrm>
          <a:prstGeom prst="ellipse">
            <a:avLst/>
          </a:prstGeom>
          <a:solidFill>
            <a:srgbClr val="1E7A8C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4114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Optimization in Planning?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70408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means finding the best available solution given an explicit objective (what you're trying to maximize or minimize) and a set of constraints (budget, capacity, legal requirements).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classic planning example is facility location: where should a limited number of fire stations go to minimize average response time, given a budget for only a few stations? This is a real, well-studied problem class called the p-median problem.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always requires someone to define the objective explicitly — 'minimize average response time' is a very different objective from 'minimize the worst-case response time for any neighborhood,' and they can produce different answers.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 finds the best answer to the question you asked — it cannot tell you if you asked the right question.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001000" y="12344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EEF3F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1417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0" y="1783080"/>
            <a:ext cx="3108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function: the single measurable goal an optimization model is told to maximize or minimize.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 · MSU AI-Ready Initiative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84048" cy="384048"/>
          </a:xfrm>
          <a:prstGeom prst="ellipse">
            <a:avLst/>
          </a:prstGeom>
          <a:solidFill>
            <a:srgbClr val="1E7A8C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4114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Testing: Comparing Multiple Futures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51560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testing means building and comparing several plausible 'what-if' futures side by side, rather than trying to predict one single correct future.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typical set: a 'business as usual' scenario, a 'managed growth' scenario, and a 'transit-focused' scenario, each with different assumptions about zoning, investment, or policy.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isn't to pick the scenario that 'wins' on a single number — it's to help decision-makers see tradeoffs clearly across scenarios before committing.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testing pairs naturally with optimization: you can optimize within each scenario, then compare the optimized results across scenarios.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 · MSU AI-Ready Initiative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32A4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Envision Utah — Salt Lake Region Scenario Planning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69494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45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Envision Utah, launched in 1997, is a real and widely cited large-scale public scenario-planning process for the Salt Lake City metropolitan region, bringing together residents, developers, and officials to compare growth scenarios over a multi-year public process.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45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compared alternative growth patterns (sprawling low-density growth vs. more compact, transit-oriented growth) using quantified tradeoffs across land consumption, infrastructure cost, water use, and travel time.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45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influenced Utah's regional transportation and land-use plans for years afterward and is frequently cited as a model for public engagement in scenario planning.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45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in the CommunityViz family (a GIS extension used by many U.S. metropolitan planning organizations) support this kind of real-time, visual scenario comparison during public meetings.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863840" y="1737360"/>
            <a:ext cx="3703320" cy="3931920"/>
          </a:xfrm>
          <a:prstGeom prst="roundRect">
            <a:avLst>
              <a:gd name="adj" fmla="val 1975"/>
            </a:avLst>
          </a:prstGeom>
          <a:solidFill>
            <a:srgbClr val="FCEFDC"/>
          </a:solidFill>
          <a:ln/>
        </p:spPr>
      </p:sp>
      <p:sp>
        <p:nvSpPr>
          <p:cNvPr id="7" name="Text 5"/>
          <p:cNvSpPr/>
          <p:nvPr/>
        </p:nvSpPr>
        <p:spPr>
          <a:xfrm>
            <a:off x="8092440" y="1920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92440" y="2286000"/>
            <a:ext cx="32461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Envision Utah shows scenario planning done with deep public participation over years, not a single closed-door modeling exercise — a reminder that the 'who is in the room comparing scenarios' question matters as much as the modeling technique.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 · MSU AI-Ready Initiative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32A4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CMAP — Chicago's GO TO 2040 Regional Plan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69494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45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Chicago Metropolitan Agency for Planning (CMAP), the region's federally designated planning body, developed its GO TO 2040 comprehensive regional plan using indicator-based scenario-planning software to compare land-use and investment alternatives across the seven-county Chicago region.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45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indicators included things like infrastructure cost, land consumption, and transportation access, allowing planners and the public to compare tradeoffs across growth alternatives.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45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2040 fed directly into real transportation funding priorities for the region — a concrete example of scenario testing feeding a binding, resourced decision, not just an academic exercise.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45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CMAP plans built on this same scenario-comparison approach, showing that these tools support an ongoing planning cycle, not a one-time report.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863840" y="1737360"/>
            <a:ext cx="3703320" cy="3931920"/>
          </a:xfrm>
          <a:prstGeom prst="roundRect">
            <a:avLst>
              <a:gd name="adj" fmla="val 1975"/>
            </a:avLst>
          </a:prstGeom>
          <a:solidFill>
            <a:srgbClr val="FCEFDC"/>
          </a:solidFill>
          <a:ln/>
        </p:spPr>
      </p:sp>
      <p:sp>
        <p:nvSpPr>
          <p:cNvPr id="7" name="Text 5"/>
          <p:cNvSpPr/>
          <p:nvPr/>
        </p:nvSpPr>
        <p:spPr>
          <a:xfrm>
            <a:off x="8092440" y="1920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92440" y="2286000"/>
            <a:ext cx="32461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CMAP shows scenario testing operating at true metropolitan scale, feeding real transportation-funding decisions — a useful counterweight to smaller, single-site examples and a reminder of how much is riding on the criteria and weights chosen.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 · MSU AI-Ready Initiative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84048" cy="384048"/>
          </a:xfrm>
          <a:prstGeom prst="ellipse">
            <a:avLst/>
          </a:prstGeom>
          <a:solidFill>
            <a:srgbClr val="1E7A8C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4114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Tradeoffs and Multi-Objective Thinking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70408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real urban decisions involve multiple, often competing objectives at once — lower cost, higher ridership, better equity, and less environmental impact rarely all point to the same alternative.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objectives conflict, there is often no single 'best' answer — instead there's a set of alternatives where improving one objective means giving up ground on another, sometimes called a tradeoff frontier.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Weighted-sum scoring (assigning each criterion a weight and totaling a score) is the most common way planners make multi-objective tradeoffs explicit and comparable, and it's the method Lab 5 will formalize.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weights themselves are a value judgment about whose priorities matter most — this is worth saying out loud in any real planning process, not treating as a hidden technical detail.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001000" y="12344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EEF3F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1417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0" y="1783080"/>
            <a:ext cx="3108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There is rarely one 'optimal' answer once objectives conflict — only better-documented tradeoffs.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 · MSU AI-Ready Initiative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4114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Weighing Three Transit Scenarios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07592"/>
            <a:ext cx="402336" cy="402336"/>
          </a:xfrm>
          <a:prstGeom prst="ellipse">
            <a:avLst/>
          </a:prstGeom>
          <a:solidFill>
            <a:srgbClr val="132A4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07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280160"/>
            <a:ext cx="102412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hypothetical scenarios: A = new light-rail line, B = expanded bus rapid transit, C = do-nothing baseline.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304288"/>
            <a:ext cx="402336" cy="402336"/>
          </a:xfrm>
          <a:prstGeom prst="ellipse">
            <a:avLst/>
          </a:prstGeom>
          <a:solidFill>
            <a:srgbClr val="132A4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304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276856"/>
            <a:ext cx="102412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and team-assigned weights: Cost (30%), Ridership potential (30%), Equity — access for low-income neighborhoods (25%), Environmental impact (15%).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300984"/>
            <a:ext cx="402336" cy="402336"/>
          </a:xfrm>
          <a:prstGeom prst="ellipse">
            <a:avLst/>
          </a:prstGeom>
          <a:solidFill>
            <a:srgbClr val="132A4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300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3273552"/>
            <a:ext cx="102412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each scenario 1–5 per criterion based on the handout (e.g., Scenario A: high ridership potential, high cost; Scenario B: moderate ridership, lower cost, strong equity access; Scenario C: no cost, no benefit).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297680"/>
            <a:ext cx="402336" cy="402336"/>
          </a:xfrm>
          <a:prstGeom prst="ellipse">
            <a:avLst/>
          </a:prstGeom>
          <a:solidFill>
            <a:srgbClr val="132A4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297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4270248"/>
            <a:ext cx="102412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each score by its criterion weight and sum for a weighted total per scenario.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5294376"/>
            <a:ext cx="402336" cy="402336"/>
          </a:xfrm>
          <a:prstGeom prst="ellipse">
            <a:avLst/>
          </a:prstGeom>
          <a:solidFill>
            <a:srgbClr val="132A4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294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5266944"/>
            <a:ext cx="102412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totals — but also check: does the ranking change if you shift the weight on Equity up to 40%? If yes, that sensitivity is itself an important finding to report, not just the winning number.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 · MSU AI-Ready Initiative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84048" cy="384048"/>
          </a:xfrm>
          <a:prstGeom prst="ellipse">
            <a:avLst/>
          </a:prstGeom>
          <a:solidFill>
            <a:srgbClr val="1E7A8C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4114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Sensitivity Analysis: Why Weights Matter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51560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analysis means systematically changing your model's inputs (usually weights) to see how much the output ranking changes — a small change that flips the 'winner' signals a fragile result.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Scenario A only wins when Equity is weighted below 20%, and your community's stated priorities put Equity above that, that's a critical finding, not a footnote.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the kind of check Lab 5's sensitivity sweep will have you run formally, using a spreadsheet to test a range of weights automatically rather than by hand.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weighted-sum result presented without any sensitivity check is presenting false confidence — showing the full range builds trust instead of hiding uncertainty.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 · MSU AI-Ready Initiative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4114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Misconceptions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10881360" cy="4892040"/>
          </a:xfrm>
          <a:prstGeom prst="roundRect">
            <a:avLst>
              <a:gd name="adj" fmla="val 1308"/>
            </a:avLst>
          </a:prstGeom>
          <a:solidFill>
            <a:srgbClr val="FCEFDC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463040"/>
            <a:ext cx="101498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300"/>
              </a:spcAft>
              <a:buSzPct val="100000"/>
              <a:buChar char="■"/>
            </a:pPr>
            <a:r>
              <a:rPr lang="en-US" sz="1500" dirty="0">
                <a:solidFill>
                  <a:srgbClr val="5A3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“Optimal means uniquely, objectively correct” — an optimization result is only 'best' relative to the objective and weights someone chose; change those and 'best' changes too.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300"/>
              </a:spcAft>
              <a:buSzPct val="100000"/>
              <a:buChar char="■"/>
            </a:pPr>
            <a:r>
              <a:rPr lang="en-US" sz="1500" dirty="0">
                <a:solidFill>
                  <a:srgbClr val="5A3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it's not quantifiable, it doesn't matter” — cultural significance, sense of place, and political feasibility are real considerations that resist clean numeric scoring but shouldn't be dropped from the conversation.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300"/>
              </a:spcAft>
              <a:buSzPct val="100000"/>
              <a:buChar char="■"/>
            </a:pPr>
            <a:r>
              <a:rPr lang="en-US" sz="1500" dirty="0">
                <a:solidFill>
                  <a:srgbClr val="5A3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model with more criteria is automatically more rigorous” — adding criteria you can't measure well or that overlap with each other can add false precision rather than real insight.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300"/>
              </a:spcAft>
              <a:buSzPct val="100000"/>
              <a:buChar char="■"/>
            </a:pPr>
            <a:r>
              <a:rPr lang="en-US" sz="1500" dirty="0">
                <a:solidFill>
                  <a:srgbClr val="5A3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“Scenario testing removes the need for a final human decision” — it narrows and clarifies tradeoffs; someone still has to choose, and be accountable for the choice.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 · MSU AI-Ready Initiative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4114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Could Go Wrong: Highway Interchanges Through Miami's Overtown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10881360" cy="4892040"/>
          </a:xfrm>
          <a:prstGeom prst="roundRect">
            <a:avLst>
              <a:gd name="adj" fmla="val 1308"/>
            </a:avLst>
          </a:prstGeom>
          <a:solidFill>
            <a:srgbClr val="FCEFDC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463040"/>
            <a:ext cx="101498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300"/>
              </a:spcAft>
              <a:buSzPct val="100000"/>
              <a:buChar char="■"/>
            </a:pPr>
            <a:r>
              <a:rPr lang="en-US" sz="1500" dirty="0">
                <a:solidFill>
                  <a:srgbClr val="5A3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1960s, construction of the I-95/I-395 interchange cut directly through Overtown, then one of Miami's most vibrant Black neighborhoods, displacing residents and destroying a large share of its housing and businesses — a well-documented case in U.S. planning history.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300"/>
              </a:spcAft>
              <a:buSzPct val="100000"/>
              <a:buChar char="■"/>
            </a:pPr>
            <a:r>
              <a:rPr lang="en-US" sz="1500" dirty="0">
                <a:solidFill>
                  <a:srgbClr val="5A3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routing decisions were justified using engineering and cost-minimization criteria that, on paper, looked like straightforward optimization — minimize construction cost and travel time.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300"/>
              </a:spcAft>
              <a:buSzPct val="100000"/>
              <a:buChar char="■"/>
            </a:pPr>
            <a:r>
              <a:rPr lang="en-US" sz="1500" dirty="0">
                <a:solidFill>
                  <a:srgbClr val="5A3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optimization objective left out was the human and community cost of displacement, because that cost was never included as a weighted criterion in the decision.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300"/>
              </a:spcAft>
              <a:buSzPct val="100000"/>
              <a:buChar char="■"/>
            </a:pPr>
            <a:r>
              <a:rPr lang="en-US" sz="1500" dirty="0">
                <a:solidFill>
                  <a:srgbClr val="5A3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lesson transfers directly to any modern optimization or scenario tool: an objective function only accounts for what you deliberately choose to measure and weight — leaving out displacement or equity doesn't make it disappear, it just makes it invisible to the model.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 · MSU AI-Ready Initiative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2A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731520"/>
            <a:ext cx="2743200" cy="2743200"/>
          </a:xfrm>
          <a:prstGeom prst="ellipse">
            <a:avLst/>
          </a:prstGeom>
          <a:solidFill>
            <a:srgbClr val="0F3A6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BREAKOUT ACTIVITY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Breakout: Re-Weight and Recheck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10515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■"/>
            </a:pPr>
            <a:r>
              <a:rPr lang="en-US" sz="15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teams, score the three transit scenarios (A/B/C) from the worked example against cost, ridership, equity, and environmental impact.</a:t>
            </a:r>
            <a:endParaRPr lang="en-US" sz="1550" dirty="0"/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■"/>
            </a:pPr>
            <a:r>
              <a:rPr lang="en-US" sz="15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your own team's weights (must sum to 100%) and compute the weighted totals.</a:t>
            </a:r>
            <a:endParaRPr lang="en-US" sz="1550" dirty="0"/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■"/>
            </a:pPr>
            <a:r>
              <a:rPr lang="en-US" sz="15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your weights with another team and recompute — did the 'winning' scenario change?</a:t>
            </a:r>
            <a:endParaRPr lang="en-US" sz="1550" dirty="0"/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■"/>
            </a:pPr>
            <a:r>
              <a:rPr lang="en-US" sz="15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Discuss: if it changed, what does that tell you about how confidently you should present the original result?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 · MSU AI-Ready Initiative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2A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731520"/>
            <a:ext cx="2743200" cy="2743200"/>
          </a:xfrm>
          <a:prstGeom prst="ellipse">
            <a:avLst/>
          </a:prstGeom>
          <a:solidFill>
            <a:srgbClr val="0F3A6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 Next: Lab 2 — Clustering Analysis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10515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■"/>
            </a:pPr>
            <a:r>
              <a:rPr lang="en-US" sz="15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 runs immediately after this class, in the same Meeting 4 session.</a:t>
            </a:r>
            <a:endParaRPr lang="en-US" sz="1550" dirty="0"/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■"/>
            </a:pPr>
            <a:r>
              <a:rPr lang="en-US" sz="15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 (no code): an interactive cluster-explorer tool with adjustable sliders.</a:t>
            </a:r>
            <a:endParaRPr lang="en-US" sz="1550" dirty="0"/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■"/>
            </a:pPr>
            <a:r>
              <a:rPr lang="en-US" sz="15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 (Colab): run k-means clustering and a silhouette score on real ACS tract indicators for one metro area, changing k.</a:t>
            </a:r>
            <a:endParaRPr lang="en-US" sz="1550" dirty="0"/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■"/>
            </a:pPr>
            <a:r>
              <a:rPr lang="en-US" sz="15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Artifact: a neighborhood-typology map plus a short written justification for your chosen number of clusters.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 · MSU AI-Ready Initiative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2A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731520"/>
            <a:ext cx="2743200" cy="2743200"/>
          </a:xfrm>
          <a:prstGeom prst="ellipse">
            <a:avLst/>
          </a:prstGeom>
          <a:solidFill>
            <a:srgbClr val="0F3A6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DUE NEXT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 Due Next: Stakeholder Map + Decision Criteria Matrix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10515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■"/>
            </a:pPr>
            <a:r>
              <a:rPr lang="en-US" sz="15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deliverable, due at the Meeting 5 team checkpoint.</a:t>
            </a:r>
            <a:endParaRPr lang="en-US" sz="1550" dirty="0"/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■"/>
            </a:pPr>
            <a:r>
              <a:rPr lang="en-US" sz="15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your Stakeholder Map: who is affected, their interest and influence level, and how they'll be engaged.</a:t>
            </a:r>
            <a:endParaRPr lang="en-US" sz="1550" dirty="0"/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■"/>
            </a:pPr>
            <a:r>
              <a:rPr lang="en-US" sz="15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Decision Criteria Matrix with weights that sum to 100% — apply the weighted-scoring logic practiced in today's worked example.</a:t>
            </a:r>
            <a:endParaRPr lang="en-US" sz="1550" dirty="0"/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■"/>
            </a:pPr>
            <a:r>
              <a:rPr lang="en-US" sz="15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both to Meeting 5 for the checkpoint review.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 · MSU AI-Ready Initiative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Urban Analytic Models II: Optimization &amp; Scenario Testing</dc:title>
  <dc:subject>PptxGenJS Presentation</dc:subject>
  <dc:creator>Urban AI · MSU AI-Ready Initiative</dc:creator>
  <cp:lastModifiedBy>Urban AI · MSU AI-Ready Initiative</cp:lastModifiedBy>
  <cp:revision>1</cp:revision>
  <dcterms:created xsi:type="dcterms:W3CDTF">2026-08-11T12:52:23Z</dcterms:created>
  <dcterms:modified xsi:type="dcterms:W3CDTF">2026-08-11T12:52:23Z</dcterms:modified>
</cp:coreProperties>
</file>